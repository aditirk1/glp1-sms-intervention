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61"/>
  </p:normalViewPr>
  <p:slideViewPr>
    <p:cSldViewPr snapToGrid="0" snapToObjects="1">
      <p:cViewPr varScale="1">
        <p:scale>
          <a:sx n="114" d="100"/>
          <a:sy n="114" d="100"/>
        </p:scale>
        <p:origin x="496"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992C23-FCA1-9E49-BD7F-0274C32512C0}" type="datetimeFigureOut">
              <a:rPr lang="en-US" smtClean="0"/>
              <a:t>8/3/26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2113CD-1389-0F4D-AE0D-358CDE8E43D1}" type="slidenum">
              <a:rPr lang="en-US" smtClean="0"/>
              <a:t>‹#›</a:t>
            </a:fld>
            <a:endParaRPr lang="en-US"/>
          </a:p>
        </p:txBody>
      </p:sp>
    </p:spTree>
    <p:extLst>
      <p:ext uri="{BB962C8B-B14F-4D97-AF65-F5344CB8AC3E}">
        <p14:creationId xmlns:p14="http://schemas.microsoft.com/office/powerpoint/2010/main" val="1306848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2113CD-1389-0F4D-AE0D-358CDE8E43D1}" type="slidenum">
              <a:rPr lang="en-US" smtClean="0"/>
              <a:t>12</a:t>
            </a:fld>
            <a:endParaRPr lang="en-US"/>
          </a:p>
        </p:txBody>
      </p:sp>
    </p:spTree>
    <p:extLst>
      <p:ext uri="{BB962C8B-B14F-4D97-AF65-F5344CB8AC3E}">
        <p14:creationId xmlns:p14="http://schemas.microsoft.com/office/powerpoint/2010/main" val="2384776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965960"/>
            <a:ext cx="10058400" cy="274320"/>
          </a:xfrm>
          <a:prstGeom prst="rect">
            <a:avLst/>
          </a:prstGeom>
          <a:noFill/>
        </p:spPr>
        <p:txBody>
          <a:bodyPr wrap="square">
            <a:spAutoFit/>
          </a:bodyPr>
          <a:lstStyle/>
          <a:p>
            <a:pPr algn="l">
              <a:spcAft>
                <a:spcPts val="0"/>
              </a:spcAft>
            </a:pPr>
            <a:r>
              <a:rPr sz="1100" b="1">
                <a:solidFill>
                  <a:srgbClr val="0F6B5C"/>
                </a:solidFill>
                <a:latin typeface="Avenir"/>
              </a:rPr>
              <a:t>PROJECT WALKTHROUGH</a:t>
            </a:r>
          </a:p>
        </p:txBody>
      </p:sp>
      <p:sp>
        <p:nvSpPr>
          <p:cNvPr id="7" name="TextBox 6"/>
          <p:cNvSpPr txBox="1"/>
          <p:nvPr/>
        </p:nvSpPr>
        <p:spPr>
          <a:xfrm>
            <a:off x="502920" y="2396281"/>
            <a:ext cx="11155680" cy="830997"/>
          </a:xfrm>
          <a:prstGeom prst="rect">
            <a:avLst/>
          </a:prstGeom>
          <a:noFill/>
        </p:spPr>
        <p:txBody>
          <a:bodyPr wrap="square">
            <a:spAutoFit/>
          </a:bodyPr>
          <a:lstStyle/>
          <a:p>
            <a:pPr algn="l">
              <a:spcAft>
                <a:spcPts val="0"/>
              </a:spcAft>
            </a:pPr>
            <a:r>
              <a:rPr sz="4800" b="1" dirty="0">
                <a:solidFill>
                  <a:schemeClr val="accent6"/>
                </a:solidFill>
                <a:latin typeface="Avenir Black" panose="02000503020000020003" pitchFamily="2" charset="0"/>
              </a:rPr>
              <a:t>GoaLPost¹</a:t>
            </a:r>
          </a:p>
        </p:txBody>
      </p:sp>
      <p:sp>
        <p:nvSpPr>
          <p:cNvPr id="8" name="TextBox 7"/>
          <p:cNvSpPr txBox="1"/>
          <p:nvPr/>
        </p:nvSpPr>
        <p:spPr>
          <a:xfrm>
            <a:off x="502920" y="3383280"/>
            <a:ext cx="9601200" cy="777240"/>
          </a:xfrm>
          <a:prstGeom prst="rect">
            <a:avLst/>
          </a:prstGeom>
          <a:noFill/>
        </p:spPr>
        <p:txBody>
          <a:bodyPr wrap="square">
            <a:spAutoFit/>
          </a:bodyPr>
          <a:lstStyle/>
          <a:p>
            <a:pPr algn="l">
              <a:spcAft>
                <a:spcPts val="0"/>
              </a:spcAft>
            </a:pPr>
            <a:r>
              <a:rPr sz="1800" b="0">
                <a:solidFill>
                  <a:srgbClr val="5A6577"/>
                </a:solidFill>
                <a:latin typeface="Avenir"/>
              </a:rPr>
              <a:t>An automated SMS check-in system for patients on GLP-1 therapy.
It identifies who is at risk of stopping treatment and routes the right follow-up.</a:t>
            </a:r>
          </a:p>
        </p:txBody>
      </p:sp>
      <p:sp>
        <p:nvSpPr>
          <p:cNvPr id="10" name="TextBox 9"/>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11" name="TextBox 10"/>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1 / 17</a:t>
            </a:r>
          </a:p>
        </p:txBody>
      </p:sp>
      <p:sp>
        <p:nvSpPr>
          <p:cNvPr id="12" name="Rectangle 11"/>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CONTEXT</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dirty="0">
                <a:solidFill>
                  <a:srgbClr val="1A2332"/>
                </a:solidFill>
                <a:latin typeface="Avenir"/>
              </a:rPr>
              <a:t>Retention on GLP-1 therapy is a known problem</a:t>
            </a:r>
          </a:p>
        </p:txBody>
      </p:sp>
      <p:sp>
        <p:nvSpPr>
          <p:cNvPr id="6" name="Rounded Rectangle 5"/>
          <p:cNvSpPr/>
          <p:nvPr/>
        </p:nvSpPr>
        <p:spPr>
          <a:xfrm>
            <a:off x="502920" y="1874519"/>
            <a:ext cx="5394960" cy="233172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2103120"/>
            <a:ext cx="1920240" cy="274320"/>
          </a:xfrm>
          <a:prstGeom prst="roundRect">
            <a:avLst>
              <a:gd name="adj" fmla="val 50000"/>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B45309"/>
                </a:solidFill>
                <a:latin typeface="Avenir"/>
              </a:rPr>
              <a:t>CLINICAL PATTERN</a:t>
            </a:r>
          </a:p>
        </p:txBody>
      </p:sp>
      <p:sp>
        <p:nvSpPr>
          <p:cNvPr id="8" name="TextBox 7"/>
          <p:cNvSpPr txBox="1"/>
          <p:nvPr/>
        </p:nvSpPr>
        <p:spPr>
          <a:xfrm>
            <a:off x="731520" y="2560320"/>
            <a:ext cx="4937760" cy="1417320"/>
          </a:xfrm>
          <a:prstGeom prst="rect">
            <a:avLst/>
          </a:prstGeom>
          <a:noFill/>
        </p:spPr>
        <p:txBody>
          <a:bodyPr wrap="square">
            <a:spAutoFit/>
          </a:bodyPr>
          <a:lstStyle/>
          <a:p>
            <a:pPr algn="l">
              <a:spcAft>
                <a:spcPts val="800"/>
              </a:spcAft>
            </a:pPr>
            <a:r>
              <a:rPr sz="1600" b="1">
                <a:solidFill>
                  <a:srgbClr val="1A2332"/>
                </a:solidFill>
                <a:latin typeface="Avenir"/>
              </a:rPr>
              <a:t>Many patients discontinue within the first months</a:t>
            </a:r>
          </a:p>
          <a:p>
            <a:pPr algn="l">
              <a:spcAft>
                <a:spcPts val="600"/>
              </a:spcAft>
            </a:pPr>
            <a:r>
              <a:rPr sz="1400" b="0">
                <a:solidFill>
                  <a:srgbClr val="5A6577"/>
                </a:solidFill>
                <a:latin typeface="Avenir"/>
              </a:rPr>
              <a:t>Common drivers include gastrointestinal side effects, stalled weight loss, coverage or cost barriers, and loss of contact with the care team.</a:t>
            </a:r>
          </a:p>
        </p:txBody>
      </p:sp>
      <p:sp>
        <p:nvSpPr>
          <p:cNvPr id="9" name="Rounded Rectangle 8"/>
          <p:cNvSpPr/>
          <p:nvPr/>
        </p:nvSpPr>
        <p:spPr>
          <a:xfrm>
            <a:off x="6217920" y="1874519"/>
            <a:ext cx="5394960" cy="233172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46520" y="2103120"/>
            <a:ext cx="1828800" cy="274320"/>
          </a:xfrm>
          <a:prstGeom prst="roundRect">
            <a:avLst>
              <a:gd name="adj" fmla="val 50000"/>
            </a:avLst>
          </a:prstGeom>
          <a:solidFill>
            <a:srgbClr val="D8EFE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0F6B5C"/>
                </a:solidFill>
                <a:latin typeface="Avenir"/>
              </a:rPr>
              <a:t>OPERATIONAL GAP</a:t>
            </a:r>
          </a:p>
        </p:txBody>
      </p:sp>
      <p:sp>
        <p:nvSpPr>
          <p:cNvPr id="11" name="TextBox 10"/>
          <p:cNvSpPr txBox="1"/>
          <p:nvPr/>
        </p:nvSpPr>
        <p:spPr>
          <a:xfrm>
            <a:off x="6446520" y="2560320"/>
            <a:ext cx="4937760" cy="1417320"/>
          </a:xfrm>
          <a:prstGeom prst="rect">
            <a:avLst/>
          </a:prstGeom>
          <a:noFill/>
        </p:spPr>
        <p:txBody>
          <a:bodyPr wrap="square">
            <a:spAutoFit/>
          </a:bodyPr>
          <a:lstStyle/>
          <a:p>
            <a:pPr algn="l">
              <a:spcAft>
                <a:spcPts val="800"/>
              </a:spcAft>
            </a:pPr>
            <a:r>
              <a:rPr sz="1600" b="1">
                <a:solidFill>
                  <a:srgbClr val="1A2332"/>
                </a:solidFill>
                <a:latin typeface="Avenir"/>
              </a:rPr>
              <a:t>Manual outreach does not scale across a full panel</a:t>
            </a:r>
          </a:p>
          <a:p>
            <a:pPr algn="l">
              <a:spcAft>
                <a:spcPts val="600"/>
              </a:spcAft>
            </a:pPr>
            <a:r>
              <a:rPr sz="1400" b="0">
                <a:solidFill>
                  <a:srgbClr val="5A6577"/>
                </a:solidFill>
                <a:latin typeface="Avenir"/>
              </a:rPr>
              <a:t>Care teams cannot personally text every patient each week. By the time someone reports a problem, they may already have stopped filling.</a:t>
            </a:r>
          </a:p>
        </p:txBody>
      </p:sp>
      <p:sp>
        <p:nvSpPr>
          <p:cNvPr id="12" name="Rectangle 11"/>
          <p:cNvSpPr/>
          <p:nvPr/>
        </p:nvSpPr>
        <p:spPr>
          <a:xfrm>
            <a:off x="502920" y="4572000"/>
            <a:ext cx="64008" cy="118872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4572000"/>
            <a:ext cx="11091672" cy="1188720"/>
          </a:xfrm>
          <a:prstGeom prst="rect">
            <a:avLst/>
          </a:prstGeom>
          <a:solidFill>
            <a:srgbClr val="D8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8952" y="4700016"/>
            <a:ext cx="10744200" cy="1005840"/>
          </a:xfrm>
          <a:prstGeom prst="rect">
            <a:avLst/>
          </a:prstGeom>
          <a:noFill/>
        </p:spPr>
        <p:txBody>
          <a:bodyPr wrap="square">
            <a:spAutoFit/>
          </a:bodyPr>
          <a:lstStyle/>
          <a:p>
            <a:pPr algn="l">
              <a:spcAft>
                <a:spcPts val="0"/>
              </a:spcAft>
            </a:pPr>
            <a:r>
              <a:rPr sz="1400" b="0">
                <a:solidFill>
                  <a:srgbClr val="1A2332"/>
                </a:solidFill>
                <a:latin typeface="Avenir"/>
              </a:rPr>
              <a:t>GoaLPost¹ monitors a patient panel on a schedule, estimates who is drifting, attributes a likely reason, and either sends a targeted message or creates a work item for a clinician.</a:t>
            </a:r>
          </a:p>
        </p:txBody>
      </p:sp>
      <p:sp>
        <p:nvSpPr>
          <p:cNvPr id="15" name="TextBox 14"/>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16" name="TextBox 15"/>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2 / 17</a:t>
            </a:r>
          </a:p>
        </p:txBody>
      </p:sp>
      <p:sp>
        <p:nvSpPr>
          <p:cNvPr id="17" name="Rectangle 16"/>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PATIENT EXPERIENCE</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a:solidFill>
                  <a:srgbClr val="1A2332"/>
                </a:solidFill>
                <a:latin typeface="Avenir"/>
              </a:rPr>
              <a:t>Check-ins are a single SMS with three reply options</a:t>
            </a:r>
          </a:p>
        </p:txBody>
      </p:sp>
      <p:sp>
        <p:nvSpPr>
          <p:cNvPr id="6" name="Rounded Rectangle 5"/>
          <p:cNvSpPr/>
          <p:nvPr/>
        </p:nvSpPr>
        <p:spPr>
          <a:xfrm>
            <a:off x="502920" y="1828800"/>
            <a:ext cx="8046720" cy="320040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103120"/>
            <a:ext cx="7406640" cy="2743200"/>
          </a:xfrm>
          <a:prstGeom prst="rect">
            <a:avLst/>
          </a:prstGeom>
          <a:noFill/>
        </p:spPr>
        <p:txBody>
          <a:bodyPr wrap="square">
            <a:spAutoFit/>
          </a:bodyPr>
          <a:lstStyle/>
          <a:p>
            <a:pPr algn="l">
              <a:spcAft>
                <a:spcPts val="1600"/>
              </a:spcAft>
            </a:pPr>
            <a:r>
              <a:rPr sz="1800" b="1">
                <a:solidFill>
                  <a:srgbClr val="1A2332"/>
                </a:solidFill>
                <a:latin typeface="Avenir"/>
              </a:rPr>
              <a:t>Hi Maria, week 12 check-in from GoaLPost¹.
How is your GLP-1 journey going?</a:t>
            </a:r>
          </a:p>
          <a:p>
            <a:pPr algn="l">
              <a:spcAft>
                <a:spcPts val="800"/>
              </a:spcAft>
            </a:pPr>
            <a:r>
              <a:rPr sz="1600" b="0">
                <a:solidFill>
                  <a:srgbClr val="1A2332"/>
                </a:solidFill>
                <a:latin typeface="Avenir"/>
              </a:rPr>
              <a:t>1  Going well</a:t>
            </a:r>
          </a:p>
          <a:p>
            <a:pPr algn="l">
              <a:spcAft>
                <a:spcPts val="800"/>
              </a:spcAft>
            </a:pPr>
            <a:r>
              <a:rPr sz="1600" b="0">
                <a:solidFill>
                  <a:srgbClr val="1A2332"/>
                </a:solidFill>
                <a:latin typeface="Avenir"/>
              </a:rPr>
              <a:t>2  Having side effects</a:t>
            </a:r>
          </a:p>
          <a:p>
            <a:pPr algn="l">
              <a:spcAft>
                <a:spcPts val="800"/>
              </a:spcAft>
            </a:pPr>
            <a:r>
              <a:rPr sz="1600" b="0">
                <a:solidFill>
                  <a:srgbClr val="1A2332"/>
                </a:solidFill>
                <a:latin typeface="Avenir"/>
              </a:rPr>
              <a:t>3  Not seeing results</a:t>
            </a:r>
          </a:p>
        </p:txBody>
      </p:sp>
      <p:sp>
        <p:nvSpPr>
          <p:cNvPr id="8" name="TextBox 7"/>
          <p:cNvSpPr txBox="1"/>
          <p:nvPr/>
        </p:nvSpPr>
        <p:spPr>
          <a:xfrm>
            <a:off x="502920" y="5349240"/>
            <a:ext cx="10972800" cy="777240"/>
          </a:xfrm>
          <a:prstGeom prst="rect">
            <a:avLst/>
          </a:prstGeom>
          <a:noFill/>
        </p:spPr>
        <p:txBody>
          <a:bodyPr wrap="square">
            <a:spAutoFit/>
          </a:bodyPr>
          <a:lstStyle/>
          <a:p>
            <a:pPr algn="l">
              <a:spcAft>
                <a:spcPts val="0"/>
              </a:spcAft>
            </a:pPr>
            <a:r>
              <a:rPr sz="1500" b="0">
                <a:solidFill>
                  <a:srgbClr val="5A6577"/>
                </a:solidFill>
                <a:latin typeface="Avenir"/>
              </a:rPr>
              <a:t>Patients do not need an app. The clinical decision support sits with the care team.</a:t>
            </a:r>
          </a:p>
        </p:txBody>
      </p:sp>
      <p:sp>
        <p:nvSpPr>
          <p:cNvPr id="9" name="TextBox 8"/>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10" name="TextBox 9"/>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3 / 17</a:t>
            </a:r>
          </a:p>
        </p:txBody>
      </p:sp>
      <p:sp>
        <p:nvSpPr>
          <p:cNvPr id="11" name="Rectangle 10"/>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DESIGN</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a:solidFill>
                  <a:srgbClr val="1A2332"/>
                </a:solidFill>
                <a:latin typeface="Avenir"/>
              </a:rPr>
              <a:t>Scheduling and follow-up run without a manual send button</a:t>
            </a:r>
          </a:p>
        </p:txBody>
      </p:sp>
      <p:sp>
        <p:nvSpPr>
          <p:cNvPr id="6" name="TextBox 5"/>
          <p:cNvSpPr txBox="1"/>
          <p:nvPr/>
        </p:nvSpPr>
        <p:spPr>
          <a:xfrm>
            <a:off x="502920" y="1554480"/>
            <a:ext cx="10972800" cy="777240"/>
          </a:xfrm>
          <a:prstGeom prst="rect">
            <a:avLst/>
          </a:prstGeom>
          <a:noFill/>
        </p:spPr>
        <p:txBody>
          <a:bodyPr wrap="square">
            <a:spAutoFit/>
          </a:bodyPr>
          <a:lstStyle/>
          <a:p>
            <a:pPr algn="l">
              <a:spcAft>
                <a:spcPts val="0"/>
              </a:spcAft>
            </a:pPr>
            <a:r>
              <a:rPr sz="1600" b="0">
                <a:solidFill>
                  <a:srgbClr val="5A6577"/>
                </a:solidFill>
                <a:latin typeface="Avenir"/>
              </a:rPr>
              <a:t>A single decision process runs on a timer. On each pass it answers three questions:</a:t>
            </a:r>
          </a:p>
        </p:txBody>
      </p:sp>
      <p:sp>
        <p:nvSpPr>
          <p:cNvPr id="7" name="Rounded Rectangle 6"/>
          <p:cNvSpPr/>
          <p:nvPr/>
        </p:nvSpPr>
        <p:spPr>
          <a:xfrm>
            <a:off x="502920" y="2331720"/>
            <a:ext cx="3566160" cy="246888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31520" y="2560320"/>
            <a:ext cx="822960" cy="274320"/>
          </a:xfrm>
          <a:prstGeom prst="roundRect">
            <a:avLst>
              <a:gd name="adj" fmla="val 50000"/>
            </a:avLst>
          </a:prstGeom>
          <a:solidFill>
            <a:srgbClr val="D8EFE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0F6B5C"/>
                </a:solidFill>
                <a:latin typeface="Avenir"/>
              </a:rPr>
              <a:t>1</a:t>
            </a:r>
          </a:p>
        </p:txBody>
      </p:sp>
      <p:sp>
        <p:nvSpPr>
          <p:cNvPr id="9" name="TextBox 8"/>
          <p:cNvSpPr txBox="1"/>
          <p:nvPr/>
        </p:nvSpPr>
        <p:spPr>
          <a:xfrm>
            <a:off x="731520" y="3017520"/>
            <a:ext cx="3108960" cy="1554480"/>
          </a:xfrm>
          <a:prstGeom prst="rect">
            <a:avLst/>
          </a:prstGeom>
          <a:noFill/>
        </p:spPr>
        <p:txBody>
          <a:bodyPr wrap="square">
            <a:spAutoFit/>
          </a:bodyPr>
          <a:lstStyle/>
          <a:p>
            <a:pPr algn="l">
              <a:spcAft>
                <a:spcPts val="800"/>
              </a:spcAft>
            </a:pPr>
            <a:r>
              <a:rPr sz="1500" b="1">
                <a:solidFill>
                  <a:srgbClr val="1A2332"/>
                </a:solidFill>
                <a:latin typeface="Avenir"/>
              </a:rPr>
              <a:t>Who is due for contact?</a:t>
            </a:r>
          </a:p>
          <a:p>
            <a:pPr algn="l">
              <a:spcAft>
                <a:spcPts val="600"/>
              </a:spcAft>
            </a:pPr>
            <a:r>
              <a:rPr sz="1300" b="0">
                <a:solidFill>
                  <a:srgbClr val="5A6577"/>
                </a:solidFill>
                <a:latin typeface="Avenir"/>
              </a:rPr>
              <a:t>Contact frequency depends on risk. Higher-risk patients are checked more often.</a:t>
            </a:r>
          </a:p>
        </p:txBody>
      </p:sp>
      <p:sp>
        <p:nvSpPr>
          <p:cNvPr id="10" name="Rounded Rectangle 9"/>
          <p:cNvSpPr/>
          <p:nvPr/>
        </p:nvSpPr>
        <p:spPr>
          <a:xfrm>
            <a:off x="4297680" y="2331720"/>
            <a:ext cx="3566160" cy="246888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26280" y="2560320"/>
            <a:ext cx="822960" cy="274320"/>
          </a:xfrm>
          <a:prstGeom prst="roundRect">
            <a:avLst>
              <a:gd name="adj" fmla="val 50000"/>
            </a:avLst>
          </a:prstGeom>
          <a:solidFill>
            <a:srgbClr val="D8EFE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0F6B5C"/>
                </a:solidFill>
                <a:latin typeface="Avenir"/>
              </a:rPr>
              <a:t>2</a:t>
            </a:r>
          </a:p>
        </p:txBody>
      </p:sp>
      <p:sp>
        <p:nvSpPr>
          <p:cNvPr id="12" name="TextBox 11"/>
          <p:cNvSpPr txBox="1"/>
          <p:nvPr/>
        </p:nvSpPr>
        <p:spPr>
          <a:xfrm>
            <a:off x="4526280" y="3017520"/>
            <a:ext cx="3108960" cy="1554480"/>
          </a:xfrm>
          <a:prstGeom prst="rect">
            <a:avLst/>
          </a:prstGeom>
          <a:noFill/>
        </p:spPr>
        <p:txBody>
          <a:bodyPr wrap="square">
            <a:spAutoFit/>
          </a:bodyPr>
          <a:lstStyle/>
          <a:p>
            <a:pPr algn="l">
              <a:spcAft>
                <a:spcPts val="800"/>
              </a:spcAft>
            </a:pPr>
            <a:r>
              <a:rPr sz="1500" b="1">
                <a:solidFill>
                  <a:srgbClr val="1A2332"/>
                </a:solidFill>
                <a:latin typeface="Avenir"/>
              </a:rPr>
              <a:t>How high is the dropout risk?</a:t>
            </a:r>
          </a:p>
          <a:p>
            <a:pPr algn="l">
              <a:spcAft>
                <a:spcPts val="600"/>
              </a:spcAft>
            </a:pPr>
            <a:r>
              <a:rPr sz="1300" b="0">
                <a:solidFill>
                  <a:srgbClr val="5A6577"/>
                </a:solidFill>
                <a:latin typeface="Avenir"/>
              </a:rPr>
              <a:t>A score estimates the chance the patient stops therapy within roughly 90 days.</a:t>
            </a:r>
          </a:p>
        </p:txBody>
      </p:sp>
      <p:sp>
        <p:nvSpPr>
          <p:cNvPr id="13" name="Rounded Rectangle 12"/>
          <p:cNvSpPr/>
          <p:nvPr/>
        </p:nvSpPr>
        <p:spPr>
          <a:xfrm>
            <a:off x="8092440" y="2331720"/>
            <a:ext cx="3566160" cy="246888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321040" y="2560320"/>
            <a:ext cx="822960" cy="274320"/>
          </a:xfrm>
          <a:prstGeom prst="roundRect">
            <a:avLst>
              <a:gd name="adj" fmla="val 50000"/>
            </a:avLst>
          </a:prstGeom>
          <a:solidFill>
            <a:srgbClr val="D8EFE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0F6B5C"/>
                </a:solidFill>
                <a:latin typeface="Avenir"/>
              </a:rPr>
              <a:t>3</a:t>
            </a:r>
          </a:p>
        </p:txBody>
      </p:sp>
      <p:sp>
        <p:nvSpPr>
          <p:cNvPr id="15" name="TextBox 14"/>
          <p:cNvSpPr txBox="1"/>
          <p:nvPr/>
        </p:nvSpPr>
        <p:spPr>
          <a:xfrm>
            <a:off x="8321040" y="3017520"/>
            <a:ext cx="3108960" cy="1554480"/>
          </a:xfrm>
          <a:prstGeom prst="rect">
            <a:avLst/>
          </a:prstGeom>
          <a:noFill/>
        </p:spPr>
        <p:txBody>
          <a:bodyPr wrap="square">
            <a:spAutoFit/>
          </a:bodyPr>
          <a:lstStyle/>
          <a:p>
            <a:pPr algn="l">
              <a:spcAft>
                <a:spcPts val="800"/>
              </a:spcAft>
            </a:pPr>
            <a:r>
              <a:rPr sz="1500" b="1">
                <a:solidFill>
                  <a:srgbClr val="1A2332"/>
                </a:solidFill>
                <a:latin typeface="Avenir"/>
              </a:rPr>
              <a:t>What action is appropriate?</a:t>
            </a:r>
          </a:p>
          <a:p>
            <a:pPr algn="l">
              <a:spcAft>
                <a:spcPts val="600"/>
              </a:spcAft>
            </a:pPr>
            <a:r>
              <a:rPr sz="1300" b="0">
                <a:solidFill>
                  <a:srgbClr val="5A6577"/>
                </a:solidFill>
                <a:latin typeface="Avenir"/>
              </a:rPr>
              <a:t>Send a targeted message, escalate to a clinician, or wait until the next scheduled check.</a:t>
            </a:r>
          </a:p>
        </p:txBody>
      </p:sp>
      <p:sp>
        <p:nvSpPr>
          <p:cNvPr id="16" name="Rectangle 15"/>
          <p:cNvSpPr/>
          <p:nvPr/>
        </p:nvSpPr>
        <p:spPr>
          <a:xfrm>
            <a:off x="502920" y="5074920"/>
            <a:ext cx="64008" cy="82296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 y="5074920"/>
            <a:ext cx="11091672" cy="822960"/>
          </a:xfrm>
          <a:prstGeom prst="rect">
            <a:avLst/>
          </a:prstGeom>
          <a:solidFill>
            <a:srgbClr val="D8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8952" y="5202936"/>
            <a:ext cx="10744200" cy="640080"/>
          </a:xfrm>
          <a:prstGeom prst="rect">
            <a:avLst/>
          </a:prstGeom>
          <a:noFill/>
        </p:spPr>
        <p:txBody>
          <a:bodyPr wrap="square">
            <a:spAutoFit/>
          </a:bodyPr>
          <a:lstStyle/>
          <a:p>
            <a:pPr algn="l">
              <a:spcAft>
                <a:spcPts val="0"/>
              </a:spcAft>
            </a:pPr>
            <a:r>
              <a:rPr sz="1400" b="0">
                <a:solidFill>
                  <a:srgbClr val="1A2332"/>
                </a:solidFill>
                <a:latin typeface="Avenir"/>
              </a:rPr>
              <a:t>The live product and the multi-month simulation call the same decision process, so the demo exercises production logic rather than a separate prototype path.</a:t>
            </a:r>
          </a:p>
        </p:txBody>
      </p:sp>
      <p:sp>
        <p:nvSpPr>
          <p:cNvPr id="19" name="TextBox 18"/>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20" name="TextBox 19"/>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4 / 17</a:t>
            </a:r>
          </a:p>
        </p:txBody>
      </p:sp>
      <p:sp>
        <p:nvSpPr>
          <p:cNvPr id="21" name="Rectangle 20"/>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PIPELINE</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a:solidFill>
                  <a:srgbClr val="1A2332"/>
                </a:solidFill>
                <a:latin typeface="Avenir"/>
              </a:rPr>
              <a:t>What happens on each scheduled run</a:t>
            </a:r>
          </a:p>
        </p:txBody>
      </p:sp>
      <p:sp>
        <p:nvSpPr>
          <p:cNvPr id="6" name="Rounded Rectangle 5"/>
          <p:cNvSpPr/>
          <p:nvPr/>
        </p:nvSpPr>
        <p:spPr>
          <a:xfrm>
            <a:off x="365760" y="1965960"/>
            <a:ext cx="2148840" cy="288036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148840"/>
            <a:ext cx="1874519" cy="2514600"/>
          </a:xfrm>
          <a:prstGeom prst="rect">
            <a:avLst/>
          </a:prstGeom>
          <a:noFill/>
        </p:spPr>
        <p:txBody>
          <a:bodyPr wrap="square">
            <a:spAutoFit/>
          </a:bodyPr>
          <a:lstStyle/>
          <a:p>
            <a:pPr algn="l">
              <a:spcAft>
                <a:spcPts val="600"/>
              </a:spcAft>
            </a:pPr>
            <a:r>
              <a:rPr sz="1100" b="1">
                <a:solidFill>
                  <a:srgbClr val="0F6B5C"/>
                </a:solidFill>
                <a:latin typeface="Avenir"/>
              </a:rPr>
              <a:t>1</a:t>
            </a:r>
          </a:p>
          <a:p>
            <a:pPr algn="l">
              <a:spcAft>
                <a:spcPts val="800"/>
              </a:spcAft>
            </a:pPr>
            <a:r>
              <a:rPr sz="1400" b="1">
                <a:solidFill>
                  <a:srgbClr val="1A2332"/>
                </a:solidFill>
                <a:latin typeface="Avenir"/>
              </a:rPr>
              <a:t>Timer fires</a:t>
            </a:r>
          </a:p>
          <a:p>
            <a:pPr algn="l">
              <a:spcAft>
                <a:spcPts val="600"/>
              </a:spcAft>
            </a:pPr>
            <a:r>
              <a:rPr sz="1200" b="0">
                <a:solidFill>
                  <a:srgbClr val="5A6577"/>
                </a:solidFill>
                <a:latin typeface="Avenir"/>
              </a:rPr>
              <a:t>Hourly in production, or via an external cron job on hosts that sleep when idle</a:t>
            </a:r>
          </a:p>
        </p:txBody>
      </p:sp>
      <p:sp>
        <p:nvSpPr>
          <p:cNvPr id="9" name="Rounded Rectangle 8"/>
          <p:cNvSpPr/>
          <p:nvPr/>
        </p:nvSpPr>
        <p:spPr>
          <a:xfrm>
            <a:off x="2697480" y="1965960"/>
            <a:ext cx="2148840" cy="288036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34640" y="2148840"/>
            <a:ext cx="1874519" cy="2514600"/>
          </a:xfrm>
          <a:prstGeom prst="rect">
            <a:avLst/>
          </a:prstGeom>
          <a:noFill/>
        </p:spPr>
        <p:txBody>
          <a:bodyPr wrap="square">
            <a:spAutoFit/>
          </a:bodyPr>
          <a:lstStyle/>
          <a:p>
            <a:pPr algn="l">
              <a:spcAft>
                <a:spcPts val="600"/>
              </a:spcAft>
            </a:pPr>
            <a:r>
              <a:rPr sz="1100" b="1">
                <a:solidFill>
                  <a:srgbClr val="0F6B5C"/>
                </a:solidFill>
                <a:latin typeface="Avenir"/>
              </a:rPr>
              <a:t>2</a:t>
            </a:r>
          </a:p>
          <a:p>
            <a:pPr algn="l">
              <a:spcAft>
                <a:spcPts val="800"/>
              </a:spcAft>
            </a:pPr>
            <a:r>
              <a:rPr sz="1400" b="1">
                <a:solidFill>
                  <a:srgbClr val="1A2332"/>
                </a:solidFill>
                <a:latin typeface="Avenir"/>
              </a:rPr>
              <a:t>Select due patients</a:t>
            </a:r>
          </a:p>
          <a:p>
            <a:pPr algn="l">
              <a:spcAft>
                <a:spcPts val="600"/>
              </a:spcAft>
            </a:pPr>
            <a:r>
              <a:rPr sz="1200" b="0">
                <a:solidFill>
                  <a:srgbClr val="5A6577"/>
                </a:solidFill>
                <a:latin typeface="Avenir"/>
              </a:rPr>
              <a:t>Anyone whose next check-in time has passed</a:t>
            </a:r>
          </a:p>
        </p:txBody>
      </p:sp>
      <p:sp>
        <p:nvSpPr>
          <p:cNvPr id="12" name="Rounded Rectangle 11"/>
          <p:cNvSpPr/>
          <p:nvPr/>
        </p:nvSpPr>
        <p:spPr>
          <a:xfrm>
            <a:off x="5029200" y="1965960"/>
            <a:ext cx="2148840" cy="288036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66360" y="2148840"/>
            <a:ext cx="1874519" cy="2514600"/>
          </a:xfrm>
          <a:prstGeom prst="rect">
            <a:avLst/>
          </a:prstGeom>
          <a:noFill/>
        </p:spPr>
        <p:txBody>
          <a:bodyPr wrap="square">
            <a:spAutoFit/>
          </a:bodyPr>
          <a:lstStyle/>
          <a:p>
            <a:pPr algn="l">
              <a:spcAft>
                <a:spcPts val="600"/>
              </a:spcAft>
            </a:pPr>
            <a:r>
              <a:rPr sz="1100" b="1">
                <a:solidFill>
                  <a:srgbClr val="0F6B5C"/>
                </a:solidFill>
                <a:latin typeface="Avenir"/>
              </a:rPr>
              <a:t>3</a:t>
            </a:r>
          </a:p>
          <a:p>
            <a:pPr algn="l">
              <a:spcAft>
                <a:spcPts val="800"/>
              </a:spcAft>
            </a:pPr>
            <a:r>
              <a:rPr sz="1400" b="1">
                <a:solidFill>
                  <a:srgbClr val="1A2332"/>
                </a:solidFill>
                <a:latin typeface="Avenir"/>
              </a:rPr>
              <a:t>Score risk</a:t>
            </a:r>
          </a:p>
          <a:p>
            <a:pPr algn="l">
              <a:spcAft>
                <a:spcPts val="600"/>
              </a:spcAft>
            </a:pPr>
            <a:r>
              <a:rPr sz="1200" b="0">
                <a:solidFill>
                  <a:srgbClr val="5A6577"/>
                </a:solidFill>
                <a:latin typeface="Avenir"/>
              </a:rPr>
              <a:t>Assign green, amber, or red, plus a likely barrier</a:t>
            </a:r>
          </a:p>
        </p:txBody>
      </p:sp>
      <p:sp>
        <p:nvSpPr>
          <p:cNvPr id="15" name="Rounded Rectangle 14"/>
          <p:cNvSpPr/>
          <p:nvPr/>
        </p:nvSpPr>
        <p:spPr>
          <a:xfrm>
            <a:off x="7360919" y="1965960"/>
            <a:ext cx="2148840" cy="288036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79" y="2148840"/>
            <a:ext cx="1874519" cy="2514600"/>
          </a:xfrm>
          <a:prstGeom prst="rect">
            <a:avLst/>
          </a:prstGeom>
          <a:noFill/>
        </p:spPr>
        <p:txBody>
          <a:bodyPr wrap="square">
            <a:spAutoFit/>
          </a:bodyPr>
          <a:lstStyle/>
          <a:p>
            <a:pPr algn="l">
              <a:spcAft>
                <a:spcPts val="600"/>
              </a:spcAft>
            </a:pPr>
            <a:r>
              <a:rPr sz="1100" b="1">
                <a:solidFill>
                  <a:srgbClr val="0F6B5C"/>
                </a:solidFill>
                <a:latin typeface="Avenir"/>
              </a:rPr>
              <a:t>4</a:t>
            </a:r>
          </a:p>
          <a:p>
            <a:pPr algn="l">
              <a:spcAft>
                <a:spcPts val="800"/>
              </a:spcAft>
            </a:pPr>
            <a:r>
              <a:rPr sz="1400" b="1">
                <a:solidFill>
                  <a:srgbClr val="1A2332"/>
                </a:solidFill>
                <a:latin typeface="Avenir"/>
              </a:rPr>
              <a:t>Apply policy</a:t>
            </a:r>
          </a:p>
          <a:p>
            <a:pPr algn="l">
              <a:spcAft>
                <a:spcPts val="600"/>
              </a:spcAft>
            </a:pPr>
            <a:r>
              <a:rPr sz="1200" b="0">
                <a:solidFill>
                  <a:srgbClr val="5A6577"/>
                </a:solidFill>
                <a:latin typeface="Avenir"/>
              </a:rPr>
              <a:t>Send a message and/or create a care-team task</a:t>
            </a:r>
          </a:p>
        </p:txBody>
      </p:sp>
      <p:sp>
        <p:nvSpPr>
          <p:cNvPr id="18" name="Rounded Rectangle 17"/>
          <p:cNvSpPr/>
          <p:nvPr/>
        </p:nvSpPr>
        <p:spPr>
          <a:xfrm>
            <a:off x="9692640" y="1965960"/>
            <a:ext cx="2148840" cy="288036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29800" y="2148840"/>
            <a:ext cx="1874519" cy="2514600"/>
          </a:xfrm>
          <a:prstGeom prst="rect">
            <a:avLst/>
          </a:prstGeom>
          <a:noFill/>
        </p:spPr>
        <p:txBody>
          <a:bodyPr wrap="square">
            <a:spAutoFit/>
          </a:bodyPr>
          <a:lstStyle/>
          <a:p>
            <a:pPr algn="l">
              <a:spcAft>
                <a:spcPts val="600"/>
              </a:spcAft>
            </a:pPr>
            <a:r>
              <a:rPr sz="1100" b="1">
                <a:solidFill>
                  <a:srgbClr val="0F6B5C"/>
                </a:solidFill>
                <a:latin typeface="Avenir"/>
              </a:rPr>
              <a:t>5</a:t>
            </a:r>
          </a:p>
          <a:p>
            <a:pPr algn="l">
              <a:spcAft>
                <a:spcPts val="800"/>
              </a:spcAft>
            </a:pPr>
            <a:r>
              <a:rPr sz="1400" b="1">
                <a:solidFill>
                  <a:srgbClr val="1A2332"/>
                </a:solidFill>
                <a:latin typeface="Avenir"/>
              </a:rPr>
              <a:t>Reschedule</a:t>
            </a:r>
          </a:p>
          <a:p>
            <a:pPr algn="l">
              <a:spcAft>
                <a:spcPts val="600"/>
              </a:spcAft>
            </a:pPr>
            <a:r>
              <a:rPr sz="1200" b="0">
                <a:solidFill>
                  <a:srgbClr val="5A6577"/>
                </a:solidFill>
                <a:latin typeface="Avenir"/>
              </a:rPr>
              <a:t>Set the next check-in based on the updated risk tier</a:t>
            </a:r>
          </a:p>
        </p:txBody>
      </p:sp>
      <p:sp>
        <p:nvSpPr>
          <p:cNvPr id="20" name="TextBox 19"/>
          <p:cNvSpPr txBox="1"/>
          <p:nvPr/>
        </p:nvSpPr>
        <p:spPr>
          <a:xfrm>
            <a:off x="502920" y="5120640"/>
            <a:ext cx="10972800" cy="777240"/>
          </a:xfrm>
          <a:prstGeom prst="rect">
            <a:avLst/>
          </a:prstGeom>
          <a:noFill/>
        </p:spPr>
        <p:txBody>
          <a:bodyPr wrap="square">
            <a:spAutoFit/>
          </a:bodyPr>
          <a:lstStyle/>
          <a:p>
            <a:pPr algn="l">
              <a:spcAft>
                <a:spcPts val="0"/>
              </a:spcAft>
            </a:pPr>
            <a:r>
              <a:rPr sz="1400" b="0">
                <a:solidFill>
                  <a:srgbClr val="5A6577"/>
                </a:solidFill>
                <a:latin typeface="Avenir"/>
              </a:rPr>
              <a:t>When a patient replies, the system scores that reply immediately, applies the same policy, and updates their next check-in date.</a:t>
            </a:r>
          </a:p>
        </p:txBody>
      </p:sp>
      <p:sp>
        <p:nvSpPr>
          <p:cNvPr id="21" name="TextBox 20"/>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22" name="TextBox 21"/>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5 / 17</a:t>
            </a:r>
          </a:p>
        </p:txBody>
      </p:sp>
      <p:sp>
        <p:nvSpPr>
          <p:cNvPr id="23" name="Rectangle 22"/>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CONTACT FREQUENCY</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a:solidFill>
                  <a:srgbClr val="1A2332"/>
                </a:solidFill>
                <a:latin typeface="Avenir"/>
              </a:rPr>
              <a:t>Higher risk shortens the time between check-ins</a:t>
            </a:r>
          </a:p>
        </p:txBody>
      </p:sp>
      <p:sp>
        <p:nvSpPr>
          <p:cNvPr id="6" name="Rounded Rectangle 5"/>
          <p:cNvSpPr/>
          <p:nvPr/>
        </p:nvSpPr>
        <p:spPr>
          <a:xfrm>
            <a:off x="502920" y="1920240"/>
            <a:ext cx="3566160" cy="224028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2148840"/>
            <a:ext cx="914400" cy="274320"/>
          </a:xfrm>
          <a:prstGeom prst="roundRect">
            <a:avLst>
              <a:gd name="adj" fmla="val 50000"/>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166534"/>
                </a:solidFill>
                <a:latin typeface="Avenir"/>
              </a:rPr>
              <a:t>GREEN</a:t>
            </a:r>
          </a:p>
        </p:txBody>
      </p:sp>
      <p:sp>
        <p:nvSpPr>
          <p:cNvPr id="8" name="TextBox 7"/>
          <p:cNvSpPr txBox="1"/>
          <p:nvPr/>
        </p:nvSpPr>
        <p:spPr>
          <a:xfrm>
            <a:off x="731520" y="2651760"/>
            <a:ext cx="3108960" cy="1280160"/>
          </a:xfrm>
          <a:prstGeom prst="rect">
            <a:avLst/>
          </a:prstGeom>
          <a:noFill/>
        </p:spPr>
        <p:txBody>
          <a:bodyPr wrap="square">
            <a:spAutoFit/>
          </a:bodyPr>
          <a:lstStyle/>
          <a:p>
            <a:pPr algn="l">
              <a:spcAft>
                <a:spcPts val="800"/>
              </a:spcAft>
            </a:pPr>
            <a:r>
              <a:rPr sz="2000" b="1">
                <a:solidFill>
                  <a:srgbClr val="1A2332"/>
                </a:solidFill>
                <a:latin typeface="Avenir"/>
              </a:rPr>
              <a:t>Every 14 days</a:t>
            </a:r>
          </a:p>
          <a:p>
            <a:pPr algn="l">
              <a:spcAft>
                <a:spcPts val="600"/>
              </a:spcAft>
            </a:pPr>
            <a:r>
              <a:rPr sz="1400" b="0">
                <a:solidFill>
                  <a:srgbClr val="5A6577"/>
                </a:solidFill>
                <a:latin typeface="Avenir"/>
              </a:rPr>
              <a:t>Patient appears stable; outreach stays light.</a:t>
            </a:r>
          </a:p>
        </p:txBody>
      </p:sp>
      <p:sp>
        <p:nvSpPr>
          <p:cNvPr id="9" name="Rounded Rectangle 8"/>
          <p:cNvSpPr/>
          <p:nvPr/>
        </p:nvSpPr>
        <p:spPr>
          <a:xfrm>
            <a:off x="4297680" y="1920240"/>
            <a:ext cx="3566160" cy="224028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526280" y="2148840"/>
            <a:ext cx="914400" cy="274320"/>
          </a:xfrm>
          <a:prstGeom prst="roundRect">
            <a:avLst>
              <a:gd name="adj" fmla="val 50000"/>
            </a:avLst>
          </a:prstGeom>
          <a:solidFill>
            <a:srgbClr val="FFEDD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C2410C"/>
                </a:solidFill>
                <a:latin typeface="Avenir"/>
              </a:rPr>
              <a:t>AMBER</a:t>
            </a:r>
          </a:p>
        </p:txBody>
      </p:sp>
      <p:sp>
        <p:nvSpPr>
          <p:cNvPr id="11" name="TextBox 10"/>
          <p:cNvSpPr txBox="1"/>
          <p:nvPr/>
        </p:nvSpPr>
        <p:spPr>
          <a:xfrm>
            <a:off x="4526280" y="2651760"/>
            <a:ext cx="3108960" cy="1280160"/>
          </a:xfrm>
          <a:prstGeom prst="rect">
            <a:avLst/>
          </a:prstGeom>
          <a:noFill/>
        </p:spPr>
        <p:txBody>
          <a:bodyPr wrap="square">
            <a:spAutoFit/>
          </a:bodyPr>
          <a:lstStyle/>
          <a:p>
            <a:pPr algn="l">
              <a:spcAft>
                <a:spcPts val="800"/>
              </a:spcAft>
            </a:pPr>
            <a:r>
              <a:rPr sz="2000" b="1">
                <a:solidFill>
                  <a:srgbClr val="1A2332"/>
                </a:solidFill>
                <a:latin typeface="Avenir"/>
              </a:rPr>
              <a:t>Every 7 days</a:t>
            </a:r>
          </a:p>
          <a:p>
            <a:pPr algn="l">
              <a:spcAft>
                <a:spcPts val="600"/>
              </a:spcAft>
            </a:pPr>
            <a:r>
              <a:rPr sz="1400" b="0">
                <a:solidFill>
                  <a:srgbClr val="5A6577"/>
                </a:solidFill>
                <a:latin typeface="Avenir"/>
              </a:rPr>
              <a:t>Elevated concern; maintain weekly contact.</a:t>
            </a:r>
          </a:p>
        </p:txBody>
      </p:sp>
      <p:sp>
        <p:nvSpPr>
          <p:cNvPr id="12" name="Rounded Rectangle 11"/>
          <p:cNvSpPr/>
          <p:nvPr/>
        </p:nvSpPr>
        <p:spPr>
          <a:xfrm>
            <a:off x="8092440" y="1920240"/>
            <a:ext cx="3566160" cy="224028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321040" y="2148840"/>
            <a:ext cx="822960" cy="274320"/>
          </a:xfrm>
          <a:prstGeom prst="roundRect">
            <a:avLst>
              <a:gd name="adj" fmla="val 50000"/>
            </a:avLst>
          </a:prstGeom>
          <a:solidFill>
            <a:srgbClr val="FFE4E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9F1239"/>
                </a:solidFill>
                <a:latin typeface="Avenir"/>
              </a:rPr>
              <a:t>RED</a:t>
            </a:r>
          </a:p>
        </p:txBody>
      </p:sp>
      <p:sp>
        <p:nvSpPr>
          <p:cNvPr id="14" name="TextBox 13"/>
          <p:cNvSpPr txBox="1"/>
          <p:nvPr/>
        </p:nvSpPr>
        <p:spPr>
          <a:xfrm>
            <a:off x="8321040" y="2651760"/>
            <a:ext cx="3108960" cy="1280160"/>
          </a:xfrm>
          <a:prstGeom prst="rect">
            <a:avLst/>
          </a:prstGeom>
          <a:noFill/>
        </p:spPr>
        <p:txBody>
          <a:bodyPr wrap="square">
            <a:spAutoFit/>
          </a:bodyPr>
          <a:lstStyle/>
          <a:p>
            <a:pPr algn="l">
              <a:spcAft>
                <a:spcPts val="800"/>
              </a:spcAft>
            </a:pPr>
            <a:r>
              <a:rPr sz="2000" b="1">
                <a:solidFill>
                  <a:srgbClr val="1A2332"/>
                </a:solidFill>
                <a:latin typeface="Avenir"/>
              </a:rPr>
              <a:t>Every 3 days</a:t>
            </a:r>
          </a:p>
          <a:p>
            <a:pPr algn="l">
              <a:spcAft>
                <a:spcPts val="600"/>
              </a:spcAft>
            </a:pPr>
            <a:r>
              <a:rPr sz="1400" b="0">
                <a:solidFill>
                  <a:srgbClr val="5A6577"/>
                </a:solidFill>
                <a:latin typeface="Avenir"/>
              </a:rPr>
              <a:t>High dropout risk; keep a short follow-up loop.</a:t>
            </a:r>
          </a:p>
        </p:txBody>
      </p:sp>
      <p:sp>
        <p:nvSpPr>
          <p:cNvPr id="15" name="Rectangle 14"/>
          <p:cNvSpPr/>
          <p:nvPr/>
        </p:nvSpPr>
        <p:spPr>
          <a:xfrm>
            <a:off x="502920" y="4572000"/>
            <a:ext cx="64008" cy="118872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66928" y="4572000"/>
            <a:ext cx="11091672" cy="1188720"/>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2" y="4700016"/>
            <a:ext cx="10744200" cy="1005840"/>
          </a:xfrm>
          <a:prstGeom prst="rect">
            <a:avLst/>
          </a:prstGeom>
          <a:noFill/>
        </p:spPr>
        <p:txBody>
          <a:bodyPr wrap="square">
            <a:spAutoFit/>
          </a:bodyPr>
          <a:lstStyle/>
          <a:p>
            <a:pPr algn="l">
              <a:spcAft>
                <a:spcPts val="0"/>
              </a:spcAft>
            </a:pPr>
            <a:r>
              <a:rPr sz="1400" b="0">
                <a:solidFill>
                  <a:srgbClr val="1A2332"/>
                </a:solidFill>
                <a:latin typeface="Avenir"/>
              </a:rPr>
              <a:t>During the first four weeks of therapy, the gap between check-ins is capped at seven days for every patient. Early dose titration is when gastrointestinal side effects and early discontinuation are most concentrated.</a:t>
            </a:r>
          </a:p>
        </p:txBody>
      </p:sp>
      <p:sp>
        <p:nvSpPr>
          <p:cNvPr id="18" name="TextBox 17"/>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19" name="TextBox 18"/>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6 / 17</a:t>
            </a:r>
          </a:p>
        </p:txBody>
      </p:sp>
      <p:sp>
        <p:nvSpPr>
          <p:cNvPr id="20" name="Rectangle 19"/>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RISK SCORING</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a:solidFill>
                  <a:srgbClr val="1A2332"/>
                </a:solidFill>
                <a:latin typeface="Avenir"/>
              </a:rPr>
              <a:t>The risk score is a forecast of discontinuation</a:t>
            </a:r>
          </a:p>
        </p:txBody>
      </p:sp>
      <p:sp>
        <p:nvSpPr>
          <p:cNvPr id="6" name="TextBox 5"/>
          <p:cNvSpPr txBox="1"/>
          <p:nvPr/>
        </p:nvSpPr>
        <p:spPr>
          <a:xfrm>
            <a:off x="502920" y="1554480"/>
            <a:ext cx="10972800" cy="777240"/>
          </a:xfrm>
          <a:prstGeom prst="rect">
            <a:avLst/>
          </a:prstGeom>
          <a:noFill/>
        </p:spPr>
        <p:txBody>
          <a:bodyPr wrap="square">
            <a:spAutoFit/>
          </a:bodyPr>
          <a:lstStyle/>
          <a:p>
            <a:pPr algn="l">
              <a:spcAft>
                <a:spcPts val="0"/>
              </a:spcAft>
            </a:pPr>
            <a:r>
              <a:rPr sz="1500" b="0">
                <a:solidFill>
                  <a:srgbClr val="5A6577"/>
                </a:solidFill>
                <a:latin typeface="Avenir"/>
              </a:rPr>
              <a:t>It is a number between 0 and 1 describing how likely the patient is to stop therapy within about 90 days. You can think of it like a weather forecast for retention.</a:t>
            </a:r>
          </a:p>
        </p:txBody>
      </p:sp>
      <p:sp>
        <p:nvSpPr>
          <p:cNvPr id="7" name="Rounded Rectangle 6"/>
          <p:cNvSpPr/>
          <p:nvPr/>
        </p:nvSpPr>
        <p:spPr>
          <a:xfrm>
            <a:off x="502920" y="2331720"/>
            <a:ext cx="5486400" cy="338328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560320"/>
            <a:ext cx="4937760" cy="2926080"/>
          </a:xfrm>
          <a:prstGeom prst="rect">
            <a:avLst/>
          </a:prstGeom>
          <a:noFill/>
        </p:spPr>
        <p:txBody>
          <a:bodyPr wrap="square">
            <a:spAutoFit/>
          </a:bodyPr>
          <a:lstStyle/>
          <a:p>
            <a:pPr algn="l">
              <a:spcAft>
                <a:spcPts val="1000"/>
              </a:spcAft>
            </a:pPr>
            <a:r>
              <a:rPr sz="1600" b="1">
                <a:solidFill>
                  <a:srgbClr val="1A2332"/>
                </a:solidFill>
                <a:latin typeface="Avenir"/>
              </a:rPr>
              <a:t>Inputs to the forecast</a:t>
            </a:r>
          </a:p>
          <a:p>
            <a:pPr algn="l">
              <a:spcAft>
                <a:spcPts val="400"/>
              </a:spcAft>
            </a:pPr>
            <a:r>
              <a:rPr sz="1400" b="0">
                <a:solidFill>
                  <a:srgbClr val="5A6577"/>
                </a:solidFill>
                <a:latin typeface="Avenir"/>
              </a:rPr>
              <a:t>Time on therapy</a:t>
            </a:r>
          </a:p>
          <a:p>
            <a:pPr algn="l">
              <a:spcAft>
                <a:spcPts val="400"/>
              </a:spcAft>
            </a:pPr>
            <a:r>
              <a:rPr sz="1400" b="0">
                <a:solidFill>
                  <a:srgbClr val="5A6577"/>
                </a:solidFill>
                <a:latin typeface="Avenir"/>
              </a:rPr>
              <a:t>Whether weight appears stuck (inferred from replies in the demo)</a:t>
            </a:r>
          </a:p>
          <a:p>
            <a:pPr algn="l">
              <a:spcAft>
                <a:spcPts val="400"/>
              </a:spcAft>
            </a:pPr>
            <a:r>
              <a:rPr sz="1400" b="0">
                <a:solidFill>
                  <a:srgbClr val="5A6577"/>
                </a:solidFill>
                <a:latin typeface="Avenir"/>
              </a:rPr>
              <a:t>Reported side effects</a:t>
            </a:r>
          </a:p>
          <a:p>
            <a:pPr algn="l">
              <a:spcAft>
                <a:spcPts val="400"/>
              </a:spcAft>
            </a:pPr>
            <a:r>
              <a:rPr sz="1400" b="0">
                <a:solidFill>
                  <a:srgbClr val="5A6577"/>
                </a:solidFill>
                <a:latin typeface="Avenir"/>
              </a:rPr>
              <a:t>Insurance type and income band</a:t>
            </a:r>
          </a:p>
          <a:p>
            <a:pPr algn="l">
              <a:spcAft>
                <a:spcPts val="400"/>
              </a:spcAft>
            </a:pPr>
            <a:r>
              <a:rPr sz="1400" b="0">
                <a:solidFill>
                  <a:srgbClr val="5A6577"/>
                </a:solidFill>
                <a:latin typeface="Avenir"/>
              </a:rPr>
              <a:t>Repeated replies of "not seeing results"</a:t>
            </a:r>
          </a:p>
          <a:p>
            <a:pPr algn="l">
              <a:spcAft>
                <a:spcPts val="400"/>
              </a:spcAft>
            </a:pPr>
            <a:r>
              <a:rPr sz="1400" b="1">
                <a:solidFill>
                  <a:srgbClr val="1A2332"/>
                </a:solidFill>
                <a:latin typeface="Avenir"/>
              </a:rPr>
              <a:t>Number of check-ins left unanswered</a:t>
            </a:r>
          </a:p>
        </p:txBody>
      </p:sp>
      <p:sp>
        <p:nvSpPr>
          <p:cNvPr id="9" name="Rounded Rectangle 8"/>
          <p:cNvSpPr/>
          <p:nvPr/>
        </p:nvSpPr>
        <p:spPr>
          <a:xfrm>
            <a:off x="6263640" y="2331720"/>
            <a:ext cx="5394960" cy="338328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2560320"/>
            <a:ext cx="4846320" cy="2926080"/>
          </a:xfrm>
          <a:prstGeom prst="rect">
            <a:avLst/>
          </a:prstGeom>
          <a:noFill/>
        </p:spPr>
        <p:txBody>
          <a:bodyPr wrap="square">
            <a:spAutoFit/>
          </a:bodyPr>
          <a:lstStyle/>
          <a:p>
            <a:pPr algn="l">
              <a:spcAft>
                <a:spcPts val="1000"/>
              </a:spcAft>
            </a:pPr>
            <a:r>
              <a:rPr sz="1600" b="1">
                <a:solidFill>
                  <a:srgbClr val="1A2332"/>
                </a:solidFill>
                <a:latin typeface="Avenir"/>
              </a:rPr>
              <a:t>Outputs shown to the care team</a:t>
            </a:r>
          </a:p>
          <a:p>
            <a:pPr algn="l">
              <a:spcAft>
                <a:spcPts val="1000"/>
              </a:spcAft>
            </a:pPr>
            <a:r>
              <a:rPr sz="1400" b="0">
                <a:solidFill>
                  <a:srgbClr val="5A6577"/>
                </a:solidFill>
                <a:latin typeface="Avenir"/>
              </a:rPr>
              <a:t>A probability converted into green, amber, or red</a:t>
            </a:r>
          </a:p>
          <a:p>
            <a:pPr algn="l">
              <a:spcAft>
                <a:spcPts val="600"/>
              </a:spcAft>
            </a:pPr>
            <a:r>
              <a:rPr sz="1400" b="0">
                <a:solidFill>
                  <a:srgbClr val="5A6577"/>
                </a:solidFill>
                <a:latin typeface="Avenir"/>
              </a:rPr>
              <a:t>A likely barrier: the main reason the forecast worsened</a:t>
            </a:r>
          </a:p>
          <a:p>
            <a:pPr algn="l">
              <a:spcAft>
                <a:spcPts val="1200"/>
              </a:spcAft>
            </a:pPr>
            <a:r>
              <a:rPr sz="1500" b="1">
                <a:solidFill>
                  <a:srgbClr val="1A2332"/>
                </a:solidFill>
                <a:latin typeface="Avenir"/>
              </a:rPr>
              <a:t>Plateau, side effects, or cost</a:t>
            </a:r>
          </a:p>
          <a:p>
            <a:pPr algn="l">
              <a:spcAft>
                <a:spcPts val="600"/>
              </a:spcAft>
            </a:pPr>
            <a:r>
              <a:rPr sz="1300" b="0">
                <a:solidFill>
                  <a:srgbClr val="5A6577"/>
                </a:solidFill>
                <a:latin typeface="Avenir"/>
              </a:rPr>
              <a:t>An explanation layer highlights which factors mattered most for that patient. The dashboard presents the conclusion; the underlying statistics stay behind the scenes.</a:t>
            </a:r>
          </a:p>
        </p:txBody>
      </p:sp>
      <p:sp>
        <p:nvSpPr>
          <p:cNvPr id="11" name="TextBox 10"/>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12" name="TextBox 11"/>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7 / 17</a:t>
            </a:r>
          </a:p>
        </p:txBody>
      </p:sp>
      <p:sp>
        <p:nvSpPr>
          <p:cNvPr id="13" name="Rectangle 12"/>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INTERVENTION POLICY</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a:solidFill>
                  <a:srgbClr val="1A2332"/>
                </a:solidFill>
                <a:latin typeface="Avenir"/>
              </a:rPr>
              <a:t>Follow-up rules are written as an explicit playbook</a:t>
            </a:r>
          </a:p>
        </p:txBody>
      </p:sp>
      <p:sp>
        <p:nvSpPr>
          <p:cNvPr id="6" name="TextBox 5"/>
          <p:cNvSpPr txBox="1"/>
          <p:nvPr/>
        </p:nvSpPr>
        <p:spPr>
          <a:xfrm>
            <a:off x="502920" y="1508760"/>
            <a:ext cx="10972800" cy="777240"/>
          </a:xfrm>
          <a:prstGeom prst="rect">
            <a:avLst/>
          </a:prstGeom>
          <a:noFill/>
        </p:spPr>
        <p:txBody>
          <a:bodyPr wrap="square">
            <a:spAutoFit/>
          </a:bodyPr>
          <a:lstStyle/>
          <a:p>
            <a:pPr algn="l">
              <a:spcAft>
                <a:spcPts val="0"/>
              </a:spcAft>
            </a:pPr>
            <a:r>
              <a:rPr sz="1400" b="0">
                <a:solidFill>
                  <a:srgbClr val="5A6577"/>
                </a:solidFill>
                <a:latin typeface="Avenir"/>
              </a:rPr>
              <a:t>The policy is stored as a readable list so a clinician can review what the system will do.</a:t>
            </a:r>
          </a:p>
        </p:txBody>
      </p:sp>
      <p:sp>
        <p:nvSpPr>
          <p:cNvPr id="7" name="Rounded Rectangle 6"/>
          <p:cNvSpPr/>
          <p:nvPr/>
        </p:nvSpPr>
        <p:spPr>
          <a:xfrm>
            <a:off x="502920" y="1920240"/>
            <a:ext cx="11155680" cy="54864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029968"/>
            <a:ext cx="1920240" cy="365760"/>
          </a:xfrm>
          <a:prstGeom prst="rect">
            <a:avLst/>
          </a:prstGeom>
          <a:noFill/>
        </p:spPr>
        <p:txBody>
          <a:bodyPr wrap="square">
            <a:spAutoFit/>
          </a:bodyPr>
          <a:lstStyle/>
          <a:p>
            <a:pPr algn="l">
              <a:spcAft>
                <a:spcPts val="0"/>
              </a:spcAft>
            </a:pPr>
            <a:r>
              <a:rPr sz="1300" b="1">
                <a:solidFill>
                  <a:srgbClr val="0F6B5C"/>
                </a:solidFill>
                <a:latin typeface="Avenir"/>
              </a:rPr>
              <a:t>Plateau</a:t>
            </a:r>
          </a:p>
        </p:txBody>
      </p:sp>
      <p:sp>
        <p:nvSpPr>
          <p:cNvPr id="9" name="TextBox 8"/>
          <p:cNvSpPr txBox="1"/>
          <p:nvPr/>
        </p:nvSpPr>
        <p:spPr>
          <a:xfrm>
            <a:off x="2697480" y="2011680"/>
            <a:ext cx="8686800" cy="411480"/>
          </a:xfrm>
          <a:prstGeom prst="rect">
            <a:avLst/>
          </a:prstGeom>
          <a:noFill/>
        </p:spPr>
        <p:txBody>
          <a:bodyPr wrap="square">
            <a:spAutoFit/>
          </a:bodyPr>
          <a:lstStyle/>
          <a:p>
            <a:pPr algn="l">
              <a:spcAft>
                <a:spcPts val="0"/>
              </a:spcAft>
            </a:pPr>
            <a:r>
              <a:rPr sz="1200" b="0">
                <a:solidFill>
                  <a:srgbClr val="5A6577"/>
                </a:solidFill>
                <a:latin typeface="Avenir"/>
              </a:rPr>
              <a:t>Patient reports "not seeing results" with elevated risk: send a message grounded in published trial evidence about non-scale benefits.</a:t>
            </a:r>
          </a:p>
        </p:txBody>
      </p:sp>
      <p:sp>
        <p:nvSpPr>
          <p:cNvPr id="10" name="Rounded Rectangle 9"/>
          <p:cNvSpPr/>
          <p:nvPr/>
        </p:nvSpPr>
        <p:spPr>
          <a:xfrm>
            <a:off x="502920" y="2560320"/>
            <a:ext cx="11155680" cy="54864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670048"/>
            <a:ext cx="1920240" cy="365760"/>
          </a:xfrm>
          <a:prstGeom prst="rect">
            <a:avLst/>
          </a:prstGeom>
          <a:noFill/>
        </p:spPr>
        <p:txBody>
          <a:bodyPr wrap="square">
            <a:spAutoFit/>
          </a:bodyPr>
          <a:lstStyle/>
          <a:p>
            <a:pPr algn="l">
              <a:spcAft>
                <a:spcPts val="0"/>
              </a:spcAft>
            </a:pPr>
            <a:r>
              <a:rPr sz="1300" b="1">
                <a:solidFill>
                  <a:srgbClr val="0F6B5C"/>
                </a:solidFill>
                <a:latin typeface="Avenir"/>
              </a:rPr>
              <a:t>Side effects</a:t>
            </a:r>
          </a:p>
        </p:txBody>
      </p:sp>
      <p:sp>
        <p:nvSpPr>
          <p:cNvPr id="12" name="TextBox 11"/>
          <p:cNvSpPr txBox="1"/>
          <p:nvPr/>
        </p:nvSpPr>
        <p:spPr>
          <a:xfrm>
            <a:off x="2697480" y="2651760"/>
            <a:ext cx="8686800" cy="411480"/>
          </a:xfrm>
          <a:prstGeom prst="rect">
            <a:avLst/>
          </a:prstGeom>
          <a:noFill/>
        </p:spPr>
        <p:txBody>
          <a:bodyPr wrap="square">
            <a:spAutoFit/>
          </a:bodyPr>
          <a:lstStyle/>
          <a:p>
            <a:pPr algn="l">
              <a:spcAft>
                <a:spcPts val="0"/>
              </a:spcAft>
            </a:pPr>
            <a:r>
              <a:rPr sz="1200" b="0">
                <a:solidFill>
                  <a:srgbClr val="5A6577"/>
                </a:solidFill>
                <a:latin typeface="Avenir"/>
              </a:rPr>
              <a:t>Reply 2: send practical gastrointestinal guidance. Two reports within a month: escalate to the care team.</a:t>
            </a:r>
          </a:p>
        </p:txBody>
      </p:sp>
      <p:sp>
        <p:nvSpPr>
          <p:cNvPr id="13" name="Rounded Rectangle 12"/>
          <p:cNvSpPr/>
          <p:nvPr/>
        </p:nvSpPr>
        <p:spPr>
          <a:xfrm>
            <a:off x="502920" y="3200400"/>
            <a:ext cx="11155680" cy="54864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310128"/>
            <a:ext cx="1920240" cy="365760"/>
          </a:xfrm>
          <a:prstGeom prst="rect">
            <a:avLst/>
          </a:prstGeom>
          <a:noFill/>
        </p:spPr>
        <p:txBody>
          <a:bodyPr wrap="square">
            <a:spAutoFit/>
          </a:bodyPr>
          <a:lstStyle/>
          <a:p>
            <a:pPr algn="l">
              <a:spcAft>
                <a:spcPts val="0"/>
              </a:spcAft>
            </a:pPr>
            <a:r>
              <a:rPr sz="1300" b="1">
                <a:solidFill>
                  <a:srgbClr val="0F6B5C"/>
                </a:solidFill>
                <a:latin typeface="Avenir"/>
              </a:rPr>
              <a:t>Cost</a:t>
            </a:r>
          </a:p>
        </p:txBody>
      </p:sp>
      <p:sp>
        <p:nvSpPr>
          <p:cNvPr id="15" name="TextBox 14"/>
          <p:cNvSpPr txBox="1"/>
          <p:nvPr/>
        </p:nvSpPr>
        <p:spPr>
          <a:xfrm>
            <a:off x="2697480" y="3291840"/>
            <a:ext cx="8686800" cy="411480"/>
          </a:xfrm>
          <a:prstGeom prst="rect">
            <a:avLst/>
          </a:prstGeom>
          <a:noFill/>
        </p:spPr>
        <p:txBody>
          <a:bodyPr wrap="square">
            <a:spAutoFit/>
          </a:bodyPr>
          <a:lstStyle/>
          <a:p>
            <a:pPr algn="l">
              <a:spcAft>
                <a:spcPts val="0"/>
              </a:spcAft>
            </a:pPr>
            <a:r>
              <a:rPr sz="1200" b="0">
                <a:solidFill>
                  <a:srgbClr val="5A6577"/>
                </a:solidFill>
                <a:latin typeface="Avenir"/>
              </a:rPr>
              <a:t>Coverage or cost flagged as the driver: send a navigation message and open a benefits-check task.</a:t>
            </a:r>
          </a:p>
        </p:txBody>
      </p:sp>
      <p:sp>
        <p:nvSpPr>
          <p:cNvPr id="16" name="Rounded Rectangle 15"/>
          <p:cNvSpPr/>
          <p:nvPr/>
        </p:nvSpPr>
        <p:spPr>
          <a:xfrm>
            <a:off x="502920" y="3840479"/>
            <a:ext cx="11155680" cy="54864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3950207"/>
            <a:ext cx="1920240" cy="365760"/>
          </a:xfrm>
          <a:prstGeom prst="rect">
            <a:avLst/>
          </a:prstGeom>
          <a:noFill/>
        </p:spPr>
        <p:txBody>
          <a:bodyPr wrap="square">
            <a:spAutoFit/>
          </a:bodyPr>
          <a:lstStyle/>
          <a:p>
            <a:pPr algn="l">
              <a:spcAft>
                <a:spcPts val="0"/>
              </a:spcAft>
            </a:pPr>
            <a:r>
              <a:rPr sz="1300" b="1">
                <a:solidFill>
                  <a:srgbClr val="0F6B5C"/>
                </a:solidFill>
                <a:latin typeface="Avenir"/>
              </a:rPr>
              <a:t>Silence</a:t>
            </a:r>
          </a:p>
        </p:txBody>
      </p:sp>
      <p:sp>
        <p:nvSpPr>
          <p:cNvPr id="18" name="TextBox 17"/>
          <p:cNvSpPr txBox="1"/>
          <p:nvPr/>
        </p:nvSpPr>
        <p:spPr>
          <a:xfrm>
            <a:off x="2697480" y="3931919"/>
            <a:ext cx="8686800" cy="411480"/>
          </a:xfrm>
          <a:prstGeom prst="rect">
            <a:avLst/>
          </a:prstGeom>
          <a:noFill/>
        </p:spPr>
        <p:txBody>
          <a:bodyPr wrap="square">
            <a:spAutoFit/>
          </a:bodyPr>
          <a:lstStyle/>
          <a:p>
            <a:pPr algn="l">
              <a:spcAft>
                <a:spcPts val="0"/>
              </a:spcAft>
            </a:pPr>
            <a:r>
              <a:rPr sz="1200" b="0">
                <a:solidFill>
                  <a:srgbClr val="5A6577"/>
                </a:solidFill>
                <a:latin typeface="Avenir"/>
              </a:rPr>
              <a:t>One missed check-in: send a short reminder. Two missed check-ins: open an outreach call task.</a:t>
            </a:r>
          </a:p>
        </p:txBody>
      </p:sp>
      <p:sp>
        <p:nvSpPr>
          <p:cNvPr id="19" name="Rounded Rectangle 18"/>
          <p:cNvSpPr/>
          <p:nvPr/>
        </p:nvSpPr>
        <p:spPr>
          <a:xfrm>
            <a:off x="502920" y="4480560"/>
            <a:ext cx="11155680" cy="54864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4590288"/>
            <a:ext cx="1920240" cy="365760"/>
          </a:xfrm>
          <a:prstGeom prst="rect">
            <a:avLst/>
          </a:prstGeom>
          <a:noFill/>
        </p:spPr>
        <p:txBody>
          <a:bodyPr wrap="square">
            <a:spAutoFit/>
          </a:bodyPr>
          <a:lstStyle/>
          <a:p>
            <a:pPr algn="l">
              <a:spcAft>
                <a:spcPts val="0"/>
              </a:spcAft>
            </a:pPr>
            <a:r>
              <a:rPr sz="1300" b="1">
                <a:solidFill>
                  <a:srgbClr val="0F6B5C"/>
                </a:solidFill>
                <a:latin typeface="Avenir"/>
              </a:rPr>
              <a:t>Sustained red</a:t>
            </a:r>
          </a:p>
        </p:txBody>
      </p:sp>
      <p:sp>
        <p:nvSpPr>
          <p:cNvPr id="21" name="TextBox 20"/>
          <p:cNvSpPr txBox="1"/>
          <p:nvPr/>
        </p:nvSpPr>
        <p:spPr>
          <a:xfrm>
            <a:off x="2697480" y="4572000"/>
            <a:ext cx="8686800" cy="411480"/>
          </a:xfrm>
          <a:prstGeom prst="rect">
            <a:avLst/>
          </a:prstGeom>
          <a:noFill/>
        </p:spPr>
        <p:txBody>
          <a:bodyPr wrap="square">
            <a:spAutoFit/>
          </a:bodyPr>
          <a:lstStyle/>
          <a:p>
            <a:pPr algn="l">
              <a:spcAft>
                <a:spcPts val="0"/>
              </a:spcAft>
            </a:pPr>
            <a:r>
              <a:rPr sz="1200" b="0">
                <a:solidFill>
                  <a:srgbClr val="5A6577"/>
                </a:solidFill>
                <a:latin typeface="Avenir"/>
              </a:rPr>
              <a:t>Red on two consecutive scorings: open a nurse call task.</a:t>
            </a:r>
          </a:p>
        </p:txBody>
      </p:sp>
      <p:sp>
        <p:nvSpPr>
          <p:cNvPr id="22" name="Rounded Rectangle 21"/>
          <p:cNvSpPr/>
          <p:nvPr/>
        </p:nvSpPr>
        <p:spPr>
          <a:xfrm>
            <a:off x="502920" y="5120640"/>
            <a:ext cx="11155680" cy="54864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5230368"/>
            <a:ext cx="1920240" cy="365760"/>
          </a:xfrm>
          <a:prstGeom prst="rect">
            <a:avLst/>
          </a:prstGeom>
          <a:noFill/>
        </p:spPr>
        <p:txBody>
          <a:bodyPr wrap="square">
            <a:spAutoFit/>
          </a:bodyPr>
          <a:lstStyle/>
          <a:p>
            <a:pPr algn="l">
              <a:spcAft>
                <a:spcPts val="0"/>
              </a:spcAft>
            </a:pPr>
            <a:r>
              <a:rPr sz="1300" b="1">
                <a:solidFill>
                  <a:srgbClr val="0F6B5C"/>
                </a:solidFill>
                <a:latin typeface="Avenir"/>
              </a:rPr>
              <a:t>Doing well</a:t>
            </a:r>
          </a:p>
        </p:txBody>
      </p:sp>
      <p:sp>
        <p:nvSpPr>
          <p:cNvPr id="24" name="TextBox 23"/>
          <p:cNvSpPr txBox="1"/>
          <p:nvPr/>
        </p:nvSpPr>
        <p:spPr>
          <a:xfrm>
            <a:off x="2697480" y="5212080"/>
            <a:ext cx="8686800" cy="411480"/>
          </a:xfrm>
          <a:prstGeom prst="rect">
            <a:avLst/>
          </a:prstGeom>
          <a:noFill/>
        </p:spPr>
        <p:txBody>
          <a:bodyPr wrap="square">
            <a:spAutoFit/>
          </a:bodyPr>
          <a:lstStyle/>
          <a:p>
            <a:pPr algn="l">
              <a:spcAft>
                <a:spcPts val="0"/>
              </a:spcAft>
            </a:pPr>
            <a:r>
              <a:rPr sz="1200" b="0">
                <a:solidFill>
                  <a:srgbClr val="5A6577"/>
                </a:solidFill>
                <a:latin typeface="Avenir"/>
              </a:rPr>
              <a:t>Reply 1: send a brief acknowledgment and allow a longer interval before the next check-in.</a:t>
            </a:r>
          </a:p>
        </p:txBody>
      </p:sp>
      <p:sp>
        <p:nvSpPr>
          <p:cNvPr id="25" name="TextBox 24"/>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26" name="TextBox 25"/>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8 / 17</a:t>
            </a:r>
          </a:p>
        </p:txBody>
      </p:sp>
      <p:sp>
        <p:nvSpPr>
          <p:cNvPr id="27" name="Rectangle 26"/>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SAFETY CONSTRAINTS</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a:solidFill>
                  <a:srgbClr val="1A2332"/>
                </a:solidFill>
                <a:latin typeface="Avenir"/>
              </a:rPr>
              <a:t>Limits prevent message spam and queue overload</a:t>
            </a:r>
          </a:p>
        </p:txBody>
      </p:sp>
      <p:sp>
        <p:nvSpPr>
          <p:cNvPr id="6" name="Rounded Rectangle 5"/>
          <p:cNvSpPr/>
          <p:nvPr/>
        </p:nvSpPr>
        <p:spPr>
          <a:xfrm>
            <a:off x="502920" y="1828800"/>
            <a:ext cx="5486400" cy="292608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57400"/>
            <a:ext cx="4937760" cy="2468880"/>
          </a:xfrm>
          <a:prstGeom prst="rect">
            <a:avLst/>
          </a:prstGeom>
          <a:noFill/>
        </p:spPr>
        <p:txBody>
          <a:bodyPr wrap="square">
            <a:spAutoFit/>
          </a:bodyPr>
          <a:lstStyle/>
          <a:p>
            <a:pPr algn="l">
              <a:spcAft>
                <a:spcPts val="1000"/>
              </a:spcAft>
            </a:pPr>
            <a:r>
              <a:rPr sz="1600" b="1">
                <a:solidFill>
                  <a:srgbClr val="1A2332"/>
                </a:solidFill>
                <a:latin typeface="Avenir"/>
              </a:rPr>
              <a:t>Outbound messages</a:t>
            </a:r>
          </a:p>
          <a:p>
            <a:pPr algn="l">
              <a:spcAft>
                <a:spcPts val="600"/>
              </a:spcAft>
            </a:pPr>
            <a:r>
              <a:rPr sz="1300" b="0">
                <a:solidFill>
                  <a:srgbClr val="5A6577"/>
                </a:solidFill>
                <a:latin typeface="Avenir"/>
              </a:rPr>
              <a:t>At most two messages per patient in any rolling seven-day window</a:t>
            </a:r>
          </a:p>
          <a:p>
            <a:pPr algn="l">
              <a:spcAft>
                <a:spcPts val="600"/>
              </a:spcAft>
            </a:pPr>
            <a:r>
              <a:rPr sz="1300" b="0">
                <a:solidFill>
                  <a:srgbClr val="5A6577"/>
                </a:solidFill>
                <a:latin typeface="Avenir"/>
              </a:rPr>
              <a:t>No repeated message body within fourteen days</a:t>
            </a:r>
          </a:p>
          <a:p>
            <a:pPr algn="l">
              <a:spcAft>
                <a:spcPts val="600"/>
              </a:spcAft>
            </a:pPr>
            <a:r>
              <a:rPr sz="1300" b="0">
                <a:solidFill>
                  <a:srgbClr val="5A6577"/>
                </a:solidFill>
                <a:latin typeface="Avenir"/>
              </a:rPr>
              <a:t>Sends only between 9 a.m. and 8 p.m.</a:t>
            </a:r>
          </a:p>
          <a:p>
            <a:pPr algn="l">
              <a:spcAft>
                <a:spcPts val="600"/>
              </a:spcAft>
            </a:pPr>
            <a:r>
              <a:rPr sz="1300" b="0">
                <a:solidFill>
                  <a:srgbClr val="5A6577"/>
                </a:solidFill>
                <a:latin typeface="Avenir"/>
              </a:rPr>
              <a:t>At most one message per decision pass</a:t>
            </a:r>
          </a:p>
        </p:txBody>
      </p:sp>
      <p:sp>
        <p:nvSpPr>
          <p:cNvPr id="8" name="Rounded Rectangle 7"/>
          <p:cNvSpPr/>
          <p:nvPr/>
        </p:nvSpPr>
        <p:spPr>
          <a:xfrm>
            <a:off x="6263640" y="1828800"/>
            <a:ext cx="5394960" cy="292608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2057400"/>
            <a:ext cx="4846320" cy="2468880"/>
          </a:xfrm>
          <a:prstGeom prst="rect">
            <a:avLst/>
          </a:prstGeom>
          <a:noFill/>
        </p:spPr>
        <p:txBody>
          <a:bodyPr wrap="square">
            <a:spAutoFit/>
          </a:bodyPr>
          <a:lstStyle/>
          <a:p>
            <a:pPr algn="l">
              <a:spcAft>
                <a:spcPts val="1000"/>
              </a:spcAft>
            </a:pPr>
            <a:r>
              <a:rPr sz="1600" b="1">
                <a:solidFill>
                  <a:srgbClr val="1A2332"/>
                </a:solidFill>
                <a:latin typeface="Avenir"/>
              </a:rPr>
              <a:t>Care-team tasks</a:t>
            </a:r>
          </a:p>
          <a:p>
            <a:pPr algn="l">
              <a:spcAft>
                <a:spcPts val="600"/>
              </a:spcAft>
            </a:pPr>
            <a:r>
              <a:rPr sz="1300" b="0">
                <a:solidFill>
                  <a:srgbClr val="5A6577"/>
                </a:solidFill>
                <a:latin typeface="Avenir"/>
              </a:rPr>
              <a:t>A second task of the same type is not opened while one remains open</a:t>
            </a:r>
          </a:p>
          <a:p>
            <a:pPr algn="l">
              <a:spcAft>
                <a:spcPts val="600"/>
              </a:spcAft>
            </a:pPr>
            <a:r>
              <a:rPr sz="1300" b="0">
                <a:solidFill>
                  <a:srgbClr val="5A6577"/>
                </a:solidFill>
                <a:latin typeface="Avenir"/>
              </a:rPr>
              <a:t>A cooldown applies after a task is closed so standing conditions do not refill the queue</a:t>
            </a:r>
          </a:p>
          <a:p>
            <a:pPr algn="l">
              <a:spcAft>
                <a:spcPts val="600"/>
              </a:spcAft>
            </a:pPr>
            <a:r>
              <a:rPr sz="1300" b="0">
                <a:solidFill>
                  <a:srgbClr val="5A6577"/>
                </a:solidFill>
                <a:latin typeface="Avenir"/>
              </a:rPr>
              <a:t>Open work is ranked by priority, then by current risk</a:t>
            </a:r>
          </a:p>
        </p:txBody>
      </p:sp>
      <p:sp>
        <p:nvSpPr>
          <p:cNvPr id="10" name="Rectangle 9"/>
          <p:cNvSpPr/>
          <p:nvPr/>
        </p:nvSpPr>
        <p:spPr>
          <a:xfrm>
            <a:off x="502920" y="5029200"/>
            <a:ext cx="64008" cy="82296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5029200"/>
            <a:ext cx="11091672" cy="822960"/>
          </a:xfrm>
          <a:prstGeom prst="rect">
            <a:avLst/>
          </a:prstGeom>
          <a:solidFill>
            <a:srgbClr val="D8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 y="5157216"/>
            <a:ext cx="10744200" cy="640080"/>
          </a:xfrm>
          <a:prstGeom prst="rect">
            <a:avLst/>
          </a:prstGeom>
          <a:noFill/>
        </p:spPr>
        <p:txBody>
          <a:bodyPr wrap="square">
            <a:spAutoFit/>
          </a:bodyPr>
          <a:lstStyle/>
          <a:p>
            <a:pPr algn="l">
              <a:spcAft>
                <a:spcPts val="0"/>
              </a:spcAft>
            </a:pPr>
            <a:r>
              <a:rPr sz="1400" b="0">
                <a:solidFill>
                  <a:srgbClr val="1A2332"/>
                </a:solidFill>
                <a:latin typeface="Avenir"/>
              </a:rPr>
              <a:t>In a stress test of 1,000 patients over 26 weeks, the weekly message cap was never exceeded and no messages were sent outside the allowed hours.</a:t>
            </a:r>
          </a:p>
        </p:txBody>
      </p:sp>
      <p:sp>
        <p:nvSpPr>
          <p:cNvPr id="13" name="TextBox 12"/>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14" name="TextBox 13"/>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9 / 17</a:t>
            </a:r>
          </a:p>
        </p:txBody>
      </p:sp>
      <p:sp>
        <p:nvSpPr>
          <p:cNvPr id="15" name="Rectangle 14"/>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NON-RESPONSE</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a:solidFill>
                  <a:srgbClr val="1A2332"/>
                </a:solidFill>
                <a:latin typeface="Avenir"/>
              </a:rPr>
              <a:t>Unanswered check-ins are treated as a clinical signal</a:t>
            </a:r>
          </a:p>
        </p:txBody>
      </p:sp>
      <p:sp>
        <p:nvSpPr>
          <p:cNvPr id="6" name="Rounded Rectangle 5"/>
          <p:cNvSpPr/>
          <p:nvPr/>
        </p:nvSpPr>
        <p:spPr>
          <a:xfrm>
            <a:off x="502920" y="1920240"/>
            <a:ext cx="5394960" cy="274320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2148840"/>
            <a:ext cx="1920240" cy="274320"/>
          </a:xfrm>
          <a:prstGeom prst="roundRect">
            <a:avLst>
              <a:gd name="adj" fmla="val 50000"/>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B45309"/>
                </a:solidFill>
                <a:latin typeface="Avenir"/>
              </a:rPr>
              <a:t>EARLIER APPROACH</a:t>
            </a:r>
          </a:p>
        </p:txBody>
      </p:sp>
      <p:sp>
        <p:nvSpPr>
          <p:cNvPr id="8" name="TextBox 7"/>
          <p:cNvSpPr txBox="1"/>
          <p:nvPr/>
        </p:nvSpPr>
        <p:spPr>
          <a:xfrm>
            <a:off x="731520" y="2651760"/>
            <a:ext cx="4937760" cy="1737360"/>
          </a:xfrm>
          <a:prstGeom prst="rect">
            <a:avLst/>
          </a:prstGeom>
          <a:noFill/>
        </p:spPr>
        <p:txBody>
          <a:bodyPr wrap="square">
            <a:spAutoFit/>
          </a:bodyPr>
          <a:lstStyle/>
          <a:p>
            <a:pPr algn="l">
              <a:spcAft>
                <a:spcPts val="800"/>
              </a:spcAft>
            </a:pPr>
            <a:r>
              <a:rPr sz="1600" b="1">
                <a:solidFill>
                  <a:srgbClr val="1A2332"/>
                </a:solidFill>
                <a:latin typeface="Avenir"/>
              </a:rPr>
              <a:t>Quiet patients were easy to overlook</a:t>
            </a:r>
          </a:p>
          <a:p>
            <a:pPr algn="l">
              <a:spcAft>
                <a:spcPts val="600"/>
              </a:spcAft>
            </a:pPr>
            <a:r>
              <a:rPr sz="1400" b="0">
                <a:solidFill>
                  <a:srgbClr val="5A6577"/>
                </a:solidFill>
                <a:latin typeface="Avenir"/>
              </a:rPr>
              <a:t>Therapy week only advanced when someone replied. A patient who never answered could remain recorded at week zero and look artificially low risk.</a:t>
            </a:r>
          </a:p>
        </p:txBody>
      </p:sp>
      <p:sp>
        <p:nvSpPr>
          <p:cNvPr id="9" name="Rounded Rectangle 8"/>
          <p:cNvSpPr/>
          <p:nvPr/>
        </p:nvSpPr>
        <p:spPr>
          <a:xfrm>
            <a:off x="6217920" y="1920240"/>
            <a:ext cx="5394960" cy="274320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46520" y="2148840"/>
            <a:ext cx="1920240" cy="274320"/>
          </a:xfrm>
          <a:prstGeom prst="roundRect">
            <a:avLst>
              <a:gd name="adj" fmla="val 50000"/>
            </a:avLst>
          </a:prstGeom>
          <a:solidFill>
            <a:srgbClr val="D8EFE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0F6B5C"/>
                </a:solidFill>
                <a:latin typeface="Avenir"/>
              </a:rPr>
              <a:t>CURRENT APPROACH</a:t>
            </a:r>
          </a:p>
        </p:txBody>
      </p:sp>
      <p:sp>
        <p:nvSpPr>
          <p:cNvPr id="11" name="TextBox 10"/>
          <p:cNvSpPr txBox="1"/>
          <p:nvPr/>
        </p:nvSpPr>
        <p:spPr>
          <a:xfrm>
            <a:off x="6446520" y="2651760"/>
            <a:ext cx="4937760" cy="1737360"/>
          </a:xfrm>
          <a:prstGeom prst="rect">
            <a:avLst/>
          </a:prstGeom>
          <a:noFill/>
        </p:spPr>
        <p:txBody>
          <a:bodyPr wrap="square">
            <a:spAutoFit/>
          </a:bodyPr>
          <a:lstStyle/>
          <a:p>
            <a:pPr algn="l">
              <a:spcAft>
                <a:spcPts val="800"/>
              </a:spcAft>
            </a:pPr>
            <a:r>
              <a:rPr sz="1600" b="1">
                <a:solidFill>
                  <a:srgbClr val="1A2332"/>
                </a:solidFill>
                <a:latin typeface="Avenir"/>
              </a:rPr>
              <a:t>Missed check-ins raise risk and create work</a:t>
            </a:r>
          </a:p>
          <a:p>
            <a:pPr algn="l">
              <a:spcAft>
                <a:spcPts val="600"/>
              </a:spcAft>
            </a:pPr>
            <a:r>
              <a:rPr sz="1400" b="0">
                <a:solidFill>
                  <a:srgbClr val="5A6577"/>
                </a:solidFill>
                <a:latin typeface="Avenir"/>
              </a:rPr>
              <a:t>Time on therapy advances from the calendar. Unanswered prompts feed the risk score. Prolonged silence opens outreach work and can mark the patient as lost to follow-up.</a:t>
            </a:r>
          </a:p>
        </p:txBody>
      </p:sp>
      <p:sp>
        <p:nvSpPr>
          <p:cNvPr id="12" name="TextBox 11"/>
          <p:cNvSpPr txBox="1"/>
          <p:nvPr/>
        </p:nvSpPr>
        <p:spPr>
          <a:xfrm>
            <a:off x="502920" y="5029200"/>
            <a:ext cx="10972800" cy="777240"/>
          </a:xfrm>
          <a:prstGeom prst="rect">
            <a:avLst/>
          </a:prstGeom>
          <a:noFill/>
        </p:spPr>
        <p:txBody>
          <a:bodyPr wrap="square">
            <a:spAutoFit/>
          </a:bodyPr>
          <a:lstStyle/>
          <a:p>
            <a:pPr algn="l">
              <a:spcAft>
                <a:spcPts val="0"/>
              </a:spcAft>
            </a:pPr>
            <a:r>
              <a:rPr sz="1500" b="0">
                <a:solidFill>
                  <a:srgbClr val="5A6577"/>
                </a:solidFill>
                <a:latin typeface="Avenir"/>
              </a:rPr>
              <a:t>This matches clinical intuition: patients who stop answering often stop refilling.</a:t>
            </a:r>
          </a:p>
        </p:txBody>
      </p:sp>
      <p:sp>
        <p:nvSpPr>
          <p:cNvPr id="13" name="TextBox 12"/>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14" name="TextBox 13"/>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10 / 17</a:t>
            </a:r>
          </a:p>
        </p:txBody>
      </p:sp>
      <p:sp>
        <p:nvSpPr>
          <p:cNvPr id="15" name="Rectangle 14"/>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CARE TEAM INTERFACE</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a:solidFill>
                  <a:srgbClr val="1A2332"/>
                </a:solidFill>
                <a:latin typeface="Avenir"/>
              </a:rPr>
              <a:t>The dashboard opens on work that needs a person</a:t>
            </a:r>
          </a:p>
        </p:txBody>
      </p:sp>
      <p:sp>
        <p:nvSpPr>
          <p:cNvPr id="6" name="Rounded Rectangle 5"/>
          <p:cNvSpPr/>
          <p:nvPr/>
        </p:nvSpPr>
        <p:spPr>
          <a:xfrm>
            <a:off x="502920" y="1965960"/>
            <a:ext cx="3566160" cy="228600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240280"/>
            <a:ext cx="3108960" cy="1737360"/>
          </a:xfrm>
          <a:prstGeom prst="rect">
            <a:avLst/>
          </a:prstGeom>
          <a:noFill/>
        </p:spPr>
        <p:txBody>
          <a:bodyPr wrap="square">
            <a:spAutoFit/>
          </a:bodyPr>
          <a:lstStyle/>
          <a:p>
            <a:pPr algn="l">
              <a:spcAft>
                <a:spcPts val="1000"/>
              </a:spcAft>
            </a:pPr>
            <a:r>
              <a:rPr sz="1600" b="1">
                <a:solidFill>
                  <a:srgbClr val="1A2332"/>
                </a:solidFill>
                <a:latin typeface="Avenir"/>
              </a:rPr>
              <a:t>Work queue</a:t>
            </a:r>
          </a:p>
          <a:p>
            <a:pPr algn="l">
              <a:spcAft>
                <a:spcPts val="600"/>
              </a:spcAft>
            </a:pPr>
            <a:r>
              <a:rPr sz="1400" b="0">
                <a:solidFill>
                  <a:srgbClr val="5A6577"/>
                </a:solidFill>
                <a:latin typeface="Avenir"/>
              </a:rPr>
              <a:t>Open tasks ordered by priority and risk. Staff can acknowledge or resolve each item.</a:t>
            </a:r>
          </a:p>
        </p:txBody>
      </p:sp>
      <p:sp>
        <p:nvSpPr>
          <p:cNvPr id="8" name="Rounded Rectangle 7"/>
          <p:cNvSpPr/>
          <p:nvPr/>
        </p:nvSpPr>
        <p:spPr>
          <a:xfrm>
            <a:off x="4297680" y="1965960"/>
            <a:ext cx="3566160" cy="228600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26280" y="2240280"/>
            <a:ext cx="3108960" cy="1737360"/>
          </a:xfrm>
          <a:prstGeom prst="rect">
            <a:avLst/>
          </a:prstGeom>
          <a:noFill/>
        </p:spPr>
        <p:txBody>
          <a:bodyPr wrap="square">
            <a:spAutoFit/>
          </a:bodyPr>
          <a:lstStyle/>
          <a:p>
            <a:pPr algn="l">
              <a:spcAft>
                <a:spcPts val="1000"/>
              </a:spcAft>
            </a:pPr>
            <a:r>
              <a:rPr sz="1600" b="1">
                <a:solidFill>
                  <a:srgbClr val="1A2332"/>
                </a:solidFill>
                <a:latin typeface="Avenir"/>
              </a:rPr>
              <a:t>Cohort summary</a:t>
            </a:r>
          </a:p>
          <a:p>
            <a:pPr algn="l">
              <a:spcAft>
                <a:spcPts val="600"/>
              </a:spcAft>
            </a:pPr>
            <a:r>
              <a:rPr sz="1400" b="0">
                <a:solidFill>
                  <a:srgbClr val="5A6577"/>
                </a:solidFill>
                <a:latin typeface="Avenir"/>
              </a:rPr>
              <a:t>Distribution across risk tiers, response rate, and retention over time.</a:t>
            </a:r>
          </a:p>
        </p:txBody>
      </p:sp>
      <p:sp>
        <p:nvSpPr>
          <p:cNvPr id="10" name="Rounded Rectangle 9"/>
          <p:cNvSpPr/>
          <p:nvPr/>
        </p:nvSpPr>
        <p:spPr>
          <a:xfrm>
            <a:off x="8092440" y="1965960"/>
            <a:ext cx="3566160" cy="228600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2240280"/>
            <a:ext cx="3108960" cy="1737360"/>
          </a:xfrm>
          <a:prstGeom prst="rect">
            <a:avLst/>
          </a:prstGeom>
          <a:noFill/>
        </p:spPr>
        <p:txBody>
          <a:bodyPr wrap="square">
            <a:spAutoFit/>
          </a:bodyPr>
          <a:lstStyle/>
          <a:p>
            <a:pPr algn="l">
              <a:spcAft>
                <a:spcPts val="1000"/>
              </a:spcAft>
            </a:pPr>
            <a:r>
              <a:rPr sz="1600" b="1">
                <a:solidFill>
                  <a:srgbClr val="1A2332"/>
                </a:solidFill>
                <a:latin typeface="Avenir"/>
              </a:rPr>
              <a:t>Patient roster</a:t>
            </a:r>
          </a:p>
          <a:p>
            <a:pPr algn="l">
              <a:spcAft>
                <a:spcPts val="600"/>
              </a:spcAft>
            </a:pPr>
            <a:r>
              <a:rPr sz="1400" b="0">
                <a:solidFill>
                  <a:srgbClr val="5A6577"/>
                </a:solidFill>
                <a:latin typeface="Avenir"/>
              </a:rPr>
              <a:t>Filter by risk tier, silence, or status, and see who is next due for contact.</a:t>
            </a:r>
          </a:p>
        </p:txBody>
      </p:sp>
      <p:sp>
        <p:nvSpPr>
          <p:cNvPr id="12" name="Rectangle 11"/>
          <p:cNvSpPr/>
          <p:nvPr/>
        </p:nvSpPr>
        <p:spPr>
          <a:xfrm>
            <a:off x="502920" y="4663440"/>
            <a:ext cx="64008" cy="109728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4663440"/>
            <a:ext cx="11091672" cy="1097280"/>
          </a:xfrm>
          <a:prstGeom prst="rect">
            <a:avLst/>
          </a:prstGeom>
          <a:solidFill>
            <a:srgbClr val="D8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8952" y="4791456"/>
            <a:ext cx="10744200" cy="914400"/>
          </a:xfrm>
          <a:prstGeom prst="rect">
            <a:avLst/>
          </a:prstGeom>
          <a:noFill/>
        </p:spPr>
        <p:txBody>
          <a:bodyPr wrap="square">
            <a:spAutoFit/>
          </a:bodyPr>
          <a:lstStyle/>
          <a:p>
            <a:pPr algn="l">
              <a:spcAft>
                <a:spcPts val="0"/>
              </a:spcAft>
            </a:pPr>
            <a:r>
              <a:rPr sz="1400" b="0">
                <a:solidFill>
                  <a:srgbClr val="1A2332"/>
                </a:solidFill>
                <a:latin typeface="Avenir"/>
              </a:rPr>
              <a:t>Clinician time is reserved for cases where a text is unlikely to be enough. The product surface is a prioritized work queue, not a full transcript of every message.</a:t>
            </a:r>
          </a:p>
        </p:txBody>
      </p:sp>
      <p:sp>
        <p:nvSpPr>
          <p:cNvPr id="15" name="TextBox 14"/>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16" name="TextBox 15"/>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11 / 17</a:t>
            </a:r>
          </a:p>
        </p:txBody>
      </p:sp>
      <p:sp>
        <p:nvSpPr>
          <p:cNvPr id="17" name="Rectangle 16"/>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EVALUATION</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a:solidFill>
                  <a:srgbClr val="1A2332"/>
                </a:solidFill>
                <a:latin typeface="Avenir"/>
              </a:rPr>
              <a:t>We compared two arms over 26 simulated weeks</a:t>
            </a:r>
          </a:p>
        </p:txBody>
      </p:sp>
      <p:sp>
        <p:nvSpPr>
          <p:cNvPr id="6" name="Rounded Rectangle 5"/>
          <p:cNvSpPr/>
          <p:nvPr/>
        </p:nvSpPr>
        <p:spPr>
          <a:xfrm>
            <a:off x="502920" y="1828800"/>
            <a:ext cx="5394960" cy="219456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2057400"/>
            <a:ext cx="1097280" cy="274320"/>
          </a:xfrm>
          <a:prstGeom prst="roundRect">
            <a:avLst>
              <a:gd name="adj" fmla="val 50000"/>
            </a:avLst>
          </a:prstGeom>
          <a:solidFill>
            <a:srgbClr val="FFEDD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C2410C"/>
                </a:solidFill>
                <a:latin typeface="Avenir"/>
              </a:rPr>
              <a:t>CONTROL</a:t>
            </a:r>
          </a:p>
        </p:txBody>
      </p:sp>
      <p:sp>
        <p:nvSpPr>
          <p:cNvPr id="8" name="TextBox 7"/>
          <p:cNvSpPr txBox="1"/>
          <p:nvPr/>
        </p:nvSpPr>
        <p:spPr>
          <a:xfrm>
            <a:off x="731520" y="2514600"/>
            <a:ext cx="4937760" cy="1280160"/>
          </a:xfrm>
          <a:prstGeom prst="rect">
            <a:avLst/>
          </a:prstGeom>
          <a:noFill/>
        </p:spPr>
        <p:txBody>
          <a:bodyPr wrap="square">
            <a:spAutoFit/>
          </a:bodyPr>
          <a:lstStyle/>
          <a:p>
            <a:pPr algn="l">
              <a:spcAft>
                <a:spcPts val="800"/>
              </a:spcAft>
            </a:pPr>
            <a:r>
              <a:rPr sz="1700" b="1">
                <a:solidFill>
                  <a:srgbClr val="1A2332"/>
                </a:solidFill>
                <a:latin typeface="Avenir"/>
              </a:rPr>
              <a:t>Check-ins and scoring only</a:t>
            </a:r>
          </a:p>
          <a:p>
            <a:pPr algn="l">
              <a:spcAft>
                <a:spcPts val="600"/>
              </a:spcAft>
            </a:pPr>
            <a:r>
              <a:rPr sz="1300" b="0">
                <a:solidFill>
                  <a:srgbClr val="5A6577"/>
                </a:solidFill>
                <a:latin typeface="Avenir"/>
              </a:rPr>
              <a:t>Patients still receive scheduled prompts and risk scores. Targeted interventions and escalations are turned off.</a:t>
            </a:r>
          </a:p>
        </p:txBody>
      </p:sp>
      <p:sp>
        <p:nvSpPr>
          <p:cNvPr id="9" name="Rounded Rectangle 8"/>
          <p:cNvSpPr/>
          <p:nvPr/>
        </p:nvSpPr>
        <p:spPr>
          <a:xfrm>
            <a:off x="6217920" y="1828800"/>
            <a:ext cx="5394960" cy="219456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46520" y="2057400"/>
            <a:ext cx="1554480" cy="274320"/>
          </a:xfrm>
          <a:prstGeom prst="roundRect">
            <a:avLst>
              <a:gd name="adj" fmla="val 50000"/>
            </a:avLst>
          </a:prstGeom>
          <a:solidFill>
            <a:srgbClr val="D8EFE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0F6B5C"/>
                </a:solidFill>
                <a:latin typeface="Avenir"/>
              </a:rPr>
              <a:t>INTERVENTION</a:t>
            </a:r>
          </a:p>
        </p:txBody>
      </p:sp>
      <p:sp>
        <p:nvSpPr>
          <p:cNvPr id="11" name="TextBox 10"/>
          <p:cNvSpPr txBox="1"/>
          <p:nvPr/>
        </p:nvSpPr>
        <p:spPr>
          <a:xfrm>
            <a:off x="6446520" y="2514600"/>
            <a:ext cx="4937760" cy="1280160"/>
          </a:xfrm>
          <a:prstGeom prst="rect">
            <a:avLst/>
          </a:prstGeom>
          <a:noFill/>
        </p:spPr>
        <p:txBody>
          <a:bodyPr wrap="square">
            <a:spAutoFit/>
          </a:bodyPr>
          <a:lstStyle/>
          <a:p>
            <a:pPr algn="l">
              <a:spcAft>
                <a:spcPts val="800"/>
              </a:spcAft>
            </a:pPr>
            <a:r>
              <a:rPr sz="1700" b="1">
                <a:solidFill>
                  <a:srgbClr val="1A2332"/>
                </a:solidFill>
                <a:latin typeface="Avenir"/>
              </a:rPr>
              <a:t>Full playbook enabled</a:t>
            </a:r>
          </a:p>
          <a:p>
            <a:pPr algn="l">
              <a:spcAft>
                <a:spcPts val="600"/>
              </a:spcAft>
            </a:pPr>
            <a:r>
              <a:rPr sz="1300" b="0">
                <a:solidFill>
                  <a:srgbClr val="5A6577"/>
                </a:solidFill>
                <a:latin typeface="Avenir"/>
              </a:rPr>
              <a:t>Same check-ins, plus plateau, side-effect, and cost messages, and care-team tasks where the policy requires them.</a:t>
            </a:r>
          </a:p>
        </p:txBody>
      </p:sp>
      <p:sp>
        <p:nvSpPr>
          <p:cNvPr id="12" name="TextBox 11"/>
          <p:cNvSpPr txBox="1"/>
          <p:nvPr/>
        </p:nvSpPr>
        <p:spPr>
          <a:xfrm>
            <a:off x="502920" y="4251960"/>
            <a:ext cx="10972800" cy="777240"/>
          </a:xfrm>
          <a:prstGeom prst="rect">
            <a:avLst/>
          </a:prstGeom>
          <a:noFill/>
        </p:spPr>
        <p:txBody>
          <a:bodyPr wrap="square">
            <a:spAutoFit/>
          </a:bodyPr>
          <a:lstStyle/>
          <a:p>
            <a:pPr algn="l">
              <a:spcAft>
                <a:spcPts val="0"/>
              </a:spcAft>
            </a:pPr>
            <a:r>
              <a:rPr sz="1400" b="0">
                <a:solidFill>
                  <a:srgbClr val="1A2332"/>
                </a:solidFill>
                <a:latin typeface="Avenir"/>
              </a:rPr>
              <a:t>Each arm used 1,000 simulated patients for 26 weeks, advancing one day at a time through the same decision process used in production.</a:t>
            </a:r>
          </a:p>
        </p:txBody>
      </p:sp>
      <p:sp>
        <p:nvSpPr>
          <p:cNvPr id="13" name="Rectangle 12"/>
          <p:cNvSpPr/>
          <p:nvPr/>
        </p:nvSpPr>
        <p:spPr>
          <a:xfrm>
            <a:off x="502920" y="4892040"/>
            <a:ext cx="64008" cy="10058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66928" y="4892040"/>
            <a:ext cx="11091672" cy="1005840"/>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8952" y="5020056"/>
            <a:ext cx="10744200" cy="822960"/>
          </a:xfrm>
          <a:prstGeom prst="rect">
            <a:avLst/>
          </a:prstGeom>
          <a:noFill/>
        </p:spPr>
        <p:txBody>
          <a:bodyPr wrap="square">
            <a:spAutoFit/>
          </a:bodyPr>
          <a:lstStyle/>
          <a:p>
            <a:pPr algn="l">
              <a:spcAft>
                <a:spcPts val="0"/>
              </a:spcAft>
            </a:pPr>
            <a:r>
              <a:rPr sz="1400" b="0">
                <a:solidFill>
                  <a:srgbClr val="1A2332"/>
                </a:solidFill>
                <a:latin typeface="Avenir"/>
              </a:rPr>
              <a:t>Important limitation: how much each message type helps is an assumption declared in the simulation code. The run shows that scheduling, guardrails, and escalation behave correctly at cohort scale. It does not establish clinical effect sizes. Those require a prospective pilot.</a:t>
            </a:r>
          </a:p>
        </p:txBody>
      </p:sp>
      <p:sp>
        <p:nvSpPr>
          <p:cNvPr id="16" name="TextBox 15"/>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17" name="TextBox 16"/>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12 / 17</a:t>
            </a:r>
          </a:p>
        </p:txBody>
      </p:sp>
      <p:sp>
        <p:nvSpPr>
          <p:cNvPr id="18" name="Rectangle 17"/>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RESULTS</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a:solidFill>
                  <a:srgbClr val="1A2332"/>
                </a:solidFill>
                <a:latin typeface="Avenir"/>
              </a:rPr>
              <a:t>Outcomes under the declared simulation assumptions</a:t>
            </a:r>
          </a:p>
        </p:txBody>
      </p:sp>
      <p:sp>
        <p:nvSpPr>
          <p:cNvPr id="6" name="Rounded Rectangle 5"/>
          <p:cNvSpPr/>
          <p:nvPr/>
        </p:nvSpPr>
        <p:spPr>
          <a:xfrm>
            <a:off x="502920" y="1828800"/>
            <a:ext cx="5394960" cy="233172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2057400"/>
            <a:ext cx="1097280" cy="274320"/>
          </a:xfrm>
          <a:prstGeom prst="roundRect">
            <a:avLst>
              <a:gd name="adj" fmla="val 50000"/>
            </a:avLst>
          </a:prstGeom>
          <a:solidFill>
            <a:srgbClr val="FFEDD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C2410C"/>
                </a:solidFill>
                <a:latin typeface="Avenir"/>
              </a:rPr>
              <a:t>CONTROL</a:t>
            </a:r>
          </a:p>
        </p:txBody>
      </p:sp>
      <p:sp>
        <p:nvSpPr>
          <p:cNvPr id="8" name="TextBox 7"/>
          <p:cNvSpPr txBox="1"/>
          <p:nvPr/>
        </p:nvSpPr>
        <p:spPr>
          <a:xfrm>
            <a:off x="731520" y="2468880"/>
            <a:ext cx="4937760" cy="1463040"/>
          </a:xfrm>
          <a:prstGeom prst="rect">
            <a:avLst/>
          </a:prstGeom>
          <a:noFill/>
        </p:spPr>
        <p:txBody>
          <a:bodyPr wrap="square">
            <a:spAutoFit/>
          </a:bodyPr>
          <a:lstStyle/>
          <a:p>
            <a:pPr algn="l">
              <a:spcAft>
                <a:spcPts val="600"/>
              </a:spcAft>
            </a:pPr>
            <a:r>
              <a:rPr sz="4400" b="1">
                <a:solidFill>
                  <a:srgbClr val="9F1239"/>
                </a:solidFill>
                <a:latin typeface="Avenir"/>
              </a:rPr>
              <a:t>40%</a:t>
            </a:r>
          </a:p>
          <a:p>
            <a:pPr algn="l">
              <a:spcAft>
                <a:spcPts val="600"/>
              </a:spcAft>
            </a:pPr>
            <a:r>
              <a:rPr sz="1400" b="0">
                <a:solidFill>
                  <a:srgbClr val="5A6577"/>
                </a:solidFill>
                <a:latin typeface="Avenir"/>
              </a:rPr>
              <a:t>still marked active at week 26</a:t>
            </a:r>
          </a:p>
        </p:txBody>
      </p:sp>
      <p:sp>
        <p:nvSpPr>
          <p:cNvPr id="9" name="Rounded Rectangle 8"/>
          <p:cNvSpPr/>
          <p:nvPr/>
        </p:nvSpPr>
        <p:spPr>
          <a:xfrm>
            <a:off x="6217920" y="1828800"/>
            <a:ext cx="5394960" cy="233172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46520" y="2057400"/>
            <a:ext cx="1554480" cy="274320"/>
          </a:xfrm>
          <a:prstGeom prst="roundRect">
            <a:avLst>
              <a:gd name="adj" fmla="val 50000"/>
            </a:avLst>
          </a:prstGeom>
          <a:solidFill>
            <a:srgbClr val="D8EFE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0F6B5C"/>
                </a:solidFill>
                <a:latin typeface="Avenir"/>
              </a:rPr>
              <a:t>INTERVENTION</a:t>
            </a:r>
          </a:p>
        </p:txBody>
      </p:sp>
      <p:sp>
        <p:nvSpPr>
          <p:cNvPr id="11" name="TextBox 10"/>
          <p:cNvSpPr txBox="1"/>
          <p:nvPr/>
        </p:nvSpPr>
        <p:spPr>
          <a:xfrm>
            <a:off x="6446520" y="2468880"/>
            <a:ext cx="4937760" cy="1463040"/>
          </a:xfrm>
          <a:prstGeom prst="rect">
            <a:avLst/>
          </a:prstGeom>
          <a:noFill/>
        </p:spPr>
        <p:txBody>
          <a:bodyPr wrap="square">
            <a:spAutoFit/>
          </a:bodyPr>
          <a:lstStyle/>
          <a:p>
            <a:pPr algn="l">
              <a:spcAft>
                <a:spcPts val="600"/>
              </a:spcAft>
            </a:pPr>
            <a:r>
              <a:rPr sz="4400" b="1">
                <a:solidFill>
                  <a:srgbClr val="0F6B5C"/>
                </a:solidFill>
                <a:latin typeface="Avenir"/>
              </a:rPr>
              <a:t>62%</a:t>
            </a:r>
          </a:p>
          <a:p>
            <a:pPr algn="l">
              <a:spcAft>
                <a:spcPts val="600"/>
              </a:spcAft>
            </a:pPr>
            <a:r>
              <a:rPr sz="1400" b="0">
                <a:solidFill>
                  <a:srgbClr val="5A6577"/>
                </a:solidFill>
                <a:latin typeface="Avenir"/>
              </a:rPr>
              <a:t>still marked active, a difference of about 22 points</a:t>
            </a:r>
          </a:p>
        </p:txBody>
      </p:sp>
      <p:sp>
        <p:nvSpPr>
          <p:cNvPr id="12" name="Rounded Rectangle 11"/>
          <p:cNvSpPr/>
          <p:nvPr/>
        </p:nvSpPr>
        <p:spPr>
          <a:xfrm>
            <a:off x="502920" y="4480560"/>
            <a:ext cx="3566160" cy="128016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4663440"/>
            <a:ext cx="3108960" cy="914400"/>
          </a:xfrm>
          <a:prstGeom prst="rect">
            <a:avLst/>
          </a:prstGeom>
          <a:noFill/>
        </p:spPr>
        <p:txBody>
          <a:bodyPr wrap="square">
            <a:spAutoFit/>
          </a:bodyPr>
          <a:lstStyle/>
          <a:p>
            <a:pPr algn="l">
              <a:spcAft>
                <a:spcPts val="400"/>
              </a:spcAft>
            </a:pPr>
            <a:r>
              <a:rPr sz="1300" b="1">
                <a:solidFill>
                  <a:srgbClr val="1A2332"/>
                </a:solidFill>
                <a:latin typeface="Avenir"/>
              </a:rPr>
              <a:t>Weekly message cap</a:t>
            </a:r>
          </a:p>
          <a:p>
            <a:pPr algn="l">
              <a:spcAft>
                <a:spcPts val="600"/>
              </a:spcAft>
            </a:pPr>
            <a:r>
              <a:rPr sz="1200" b="0">
                <a:solidFill>
                  <a:srgbClr val="5A6577"/>
                </a:solidFill>
                <a:latin typeface="Avenir"/>
              </a:rPr>
              <a:t>Maximum of two; zero violations</a:t>
            </a:r>
          </a:p>
        </p:txBody>
      </p:sp>
      <p:sp>
        <p:nvSpPr>
          <p:cNvPr id="14" name="Rounded Rectangle 13"/>
          <p:cNvSpPr/>
          <p:nvPr/>
        </p:nvSpPr>
        <p:spPr>
          <a:xfrm>
            <a:off x="4297680" y="4480560"/>
            <a:ext cx="3566160" cy="128016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6280" y="4663440"/>
            <a:ext cx="3108960" cy="914400"/>
          </a:xfrm>
          <a:prstGeom prst="rect">
            <a:avLst/>
          </a:prstGeom>
          <a:noFill/>
        </p:spPr>
        <p:txBody>
          <a:bodyPr wrap="square">
            <a:spAutoFit/>
          </a:bodyPr>
          <a:lstStyle/>
          <a:p>
            <a:pPr algn="l">
              <a:spcAft>
                <a:spcPts val="400"/>
              </a:spcAft>
            </a:pPr>
            <a:r>
              <a:rPr sz="1300" b="1">
                <a:solidFill>
                  <a:srgbClr val="1A2332"/>
                </a:solidFill>
                <a:latin typeface="Avenir"/>
              </a:rPr>
              <a:t>Send window</a:t>
            </a:r>
          </a:p>
          <a:p>
            <a:pPr algn="l">
              <a:spcAft>
                <a:spcPts val="600"/>
              </a:spcAft>
            </a:pPr>
            <a:r>
              <a:rPr sz="1200" b="0">
                <a:solidFill>
                  <a:srgbClr val="5A6577"/>
                </a:solidFill>
                <a:latin typeface="Avenir"/>
              </a:rPr>
              <a:t>No messages outside 9 a.m. to 8 p.m.</a:t>
            </a:r>
          </a:p>
        </p:txBody>
      </p:sp>
      <p:sp>
        <p:nvSpPr>
          <p:cNvPr id="16" name="Rounded Rectangle 15"/>
          <p:cNvSpPr/>
          <p:nvPr/>
        </p:nvSpPr>
        <p:spPr>
          <a:xfrm>
            <a:off x="8092440" y="4480560"/>
            <a:ext cx="3566160" cy="128016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4663440"/>
            <a:ext cx="3108960" cy="914400"/>
          </a:xfrm>
          <a:prstGeom prst="rect">
            <a:avLst/>
          </a:prstGeom>
          <a:noFill/>
        </p:spPr>
        <p:txBody>
          <a:bodyPr wrap="square">
            <a:spAutoFit/>
          </a:bodyPr>
          <a:lstStyle/>
          <a:p>
            <a:pPr algn="l">
              <a:spcAft>
                <a:spcPts val="400"/>
              </a:spcAft>
            </a:pPr>
            <a:r>
              <a:rPr sz="1300" b="1">
                <a:solidFill>
                  <a:srgbClr val="1A2332"/>
                </a:solidFill>
                <a:latin typeface="Avenir"/>
              </a:rPr>
              <a:t>Silent patients</a:t>
            </a:r>
          </a:p>
          <a:p>
            <a:pPr algn="l">
              <a:spcAft>
                <a:spcPts val="600"/>
              </a:spcAft>
            </a:pPr>
            <a:r>
              <a:rPr sz="1200" b="0">
                <a:solidFill>
                  <a:srgbClr val="5A6577"/>
                </a:solidFill>
                <a:latin typeface="Avenir"/>
              </a:rPr>
              <a:t>None remained frozen at week zero</a:t>
            </a:r>
          </a:p>
        </p:txBody>
      </p:sp>
      <p:sp>
        <p:nvSpPr>
          <p:cNvPr id="18" name="TextBox 17"/>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19" name="TextBox 18"/>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13 / 17</a:t>
            </a:r>
          </a:p>
        </p:txBody>
      </p:sp>
      <p:sp>
        <p:nvSpPr>
          <p:cNvPr id="20" name="Rectangle 19"/>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LIVE DEMONSTRATION</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a:solidFill>
                  <a:srgbClr val="1A2332"/>
                </a:solidFill>
                <a:latin typeface="Avenir"/>
              </a:rPr>
              <a:t>Suggested order when presenting the product</a:t>
            </a:r>
          </a:p>
        </p:txBody>
      </p:sp>
      <p:sp>
        <p:nvSpPr>
          <p:cNvPr id="6" name="Oval 5"/>
          <p:cNvSpPr/>
          <p:nvPr/>
        </p:nvSpPr>
        <p:spPr>
          <a:xfrm>
            <a:off x="502920" y="1783080"/>
            <a:ext cx="365760" cy="365760"/>
          </a:xfrm>
          <a:prstGeom prst="ellipse">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00"/>
            <a:ext cx="365760" cy="292608"/>
          </a:xfrm>
          <a:prstGeom prst="rect">
            <a:avLst/>
          </a:prstGeom>
          <a:noFill/>
        </p:spPr>
        <p:txBody>
          <a:bodyPr wrap="square">
            <a:spAutoFit/>
          </a:bodyPr>
          <a:lstStyle/>
          <a:p>
            <a:pPr algn="ctr">
              <a:spcAft>
                <a:spcPts val="0"/>
              </a:spcAft>
            </a:pPr>
            <a:r>
              <a:rPr sz="1300" b="1">
                <a:solidFill>
                  <a:srgbClr val="FFFFFF"/>
                </a:solidFill>
                <a:latin typeface="Avenir"/>
              </a:rPr>
              <a:t>1</a:t>
            </a:r>
          </a:p>
        </p:txBody>
      </p:sp>
      <p:sp>
        <p:nvSpPr>
          <p:cNvPr id="8" name="Rounded Rectangle 7"/>
          <p:cNvSpPr/>
          <p:nvPr/>
        </p:nvSpPr>
        <p:spPr>
          <a:xfrm>
            <a:off x="1051560" y="1737360"/>
            <a:ext cx="10607040" cy="530352"/>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1847088"/>
            <a:ext cx="10149840" cy="347472"/>
          </a:xfrm>
          <a:prstGeom prst="rect">
            <a:avLst/>
          </a:prstGeom>
          <a:noFill/>
        </p:spPr>
        <p:txBody>
          <a:bodyPr wrap="square">
            <a:spAutoFit/>
          </a:bodyPr>
          <a:lstStyle/>
          <a:p>
            <a:pPr algn="l">
              <a:spcAft>
                <a:spcPts val="0"/>
              </a:spcAft>
            </a:pPr>
            <a:r>
              <a:rPr sz="1300" b="0">
                <a:solidFill>
                  <a:srgbClr val="1A2332"/>
                </a:solidFill>
                <a:latin typeface="Avenir"/>
              </a:rPr>
              <a:t>Open the dashboard and start with the work queue rather than the full patient table.</a:t>
            </a:r>
          </a:p>
        </p:txBody>
      </p:sp>
      <p:sp>
        <p:nvSpPr>
          <p:cNvPr id="10" name="Oval 9"/>
          <p:cNvSpPr/>
          <p:nvPr/>
        </p:nvSpPr>
        <p:spPr>
          <a:xfrm>
            <a:off x="502920" y="2441448"/>
            <a:ext cx="365760" cy="365760"/>
          </a:xfrm>
          <a:prstGeom prst="ellipse">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487168"/>
            <a:ext cx="365760" cy="292608"/>
          </a:xfrm>
          <a:prstGeom prst="rect">
            <a:avLst/>
          </a:prstGeom>
          <a:noFill/>
        </p:spPr>
        <p:txBody>
          <a:bodyPr wrap="square">
            <a:spAutoFit/>
          </a:bodyPr>
          <a:lstStyle/>
          <a:p>
            <a:pPr algn="ctr">
              <a:spcAft>
                <a:spcPts val="0"/>
              </a:spcAft>
            </a:pPr>
            <a:r>
              <a:rPr sz="1300" b="1">
                <a:solidFill>
                  <a:srgbClr val="FFFFFF"/>
                </a:solidFill>
                <a:latin typeface="Avenir"/>
              </a:rPr>
              <a:t>2</a:t>
            </a:r>
          </a:p>
        </p:txBody>
      </p:sp>
      <p:sp>
        <p:nvSpPr>
          <p:cNvPr id="12" name="Rounded Rectangle 11"/>
          <p:cNvSpPr/>
          <p:nvPr/>
        </p:nvSpPr>
        <p:spPr>
          <a:xfrm>
            <a:off x="1051560" y="2395728"/>
            <a:ext cx="10607040" cy="530352"/>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0160" y="2505456"/>
            <a:ext cx="10149840" cy="347472"/>
          </a:xfrm>
          <a:prstGeom prst="rect">
            <a:avLst/>
          </a:prstGeom>
          <a:noFill/>
        </p:spPr>
        <p:txBody>
          <a:bodyPr wrap="square">
            <a:spAutoFit/>
          </a:bodyPr>
          <a:lstStyle/>
          <a:p>
            <a:pPr algn="l">
              <a:spcAft>
                <a:spcPts val="0"/>
              </a:spcAft>
            </a:pPr>
            <a:r>
              <a:rPr sz="1300" b="0">
                <a:solidFill>
                  <a:srgbClr val="1A2332"/>
                </a:solidFill>
                <a:latin typeface="Avenir"/>
              </a:rPr>
              <a:t>Acknowledge and resolve one task to show how staff close work items.</a:t>
            </a:r>
          </a:p>
        </p:txBody>
      </p:sp>
      <p:sp>
        <p:nvSpPr>
          <p:cNvPr id="14" name="Oval 13"/>
          <p:cNvSpPr/>
          <p:nvPr/>
        </p:nvSpPr>
        <p:spPr>
          <a:xfrm>
            <a:off x="502920" y="3099816"/>
            <a:ext cx="365760" cy="365760"/>
          </a:xfrm>
          <a:prstGeom prst="ellipse">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3145536"/>
            <a:ext cx="365760" cy="292608"/>
          </a:xfrm>
          <a:prstGeom prst="rect">
            <a:avLst/>
          </a:prstGeom>
          <a:noFill/>
        </p:spPr>
        <p:txBody>
          <a:bodyPr wrap="square">
            <a:spAutoFit/>
          </a:bodyPr>
          <a:lstStyle/>
          <a:p>
            <a:pPr algn="ctr">
              <a:spcAft>
                <a:spcPts val="0"/>
              </a:spcAft>
            </a:pPr>
            <a:r>
              <a:rPr sz="1300" b="1">
                <a:solidFill>
                  <a:srgbClr val="FFFFFF"/>
                </a:solidFill>
                <a:latin typeface="Avenir"/>
              </a:rPr>
              <a:t>3</a:t>
            </a:r>
          </a:p>
        </p:txBody>
      </p:sp>
      <p:sp>
        <p:nvSpPr>
          <p:cNvPr id="16" name="Rounded Rectangle 15"/>
          <p:cNvSpPr/>
          <p:nvPr/>
        </p:nvSpPr>
        <p:spPr>
          <a:xfrm>
            <a:off x="1051560" y="3054096"/>
            <a:ext cx="10607040" cy="530352"/>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80160" y="3163824"/>
            <a:ext cx="10149840" cy="347472"/>
          </a:xfrm>
          <a:prstGeom prst="rect">
            <a:avLst/>
          </a:prstGeom>
          <a:noFill/>
        </p:spPr>
        <p:txBody>
          <a:bodyPr wrap="square">
            <a:spAutoFit/>
          </a:bodyPr>
          <a:lstStyle/>
          <a:p>
            <a:pPr algn="l">
              <a:spcAft>
                <a:spcPts val="0"/>
              </a:spcAft>
            </a:pPr>
            <a:r>
              <a:rPr sz="1300" b="0">
                <a:solidFill>
                  <a:srgbClr val="1A2332"/>
                </a:solidFill>
                <a:latin typeface="Avenir"/>
              </a:rPr>
              <a:t>Run the scheduler once to contact due patients. Running it again should contact nobody new.</a:t>
            </a:r>
          </a:p>
        </p:txBody>
      </p:sp>
      <p:sp>
        <p:nvSpPr>
          <p:cNvPr id="18" name="Oval 17"/>
          <p:cNvSpPr/>
          <p:nvPr/>
        </p:nvSpPr>
        <p:spPr>
          <a:xfrm>
            <a:off x="502920" y="3758184"/>
            <a:ext cx="365760" cy="365760"/>
          </a:xfrm>
          <a:prstGeom prst="ellipse">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803904"/>
            <a:ext cx="365760" cy="292608"/>
          </a:xfrm>
          <a:prstGeom prst="rect">
            <a:avLst/>
          </a:prstGeom>
          <a:noFill/>
        </p:spPr>
        <p:txBody>
          <a:bodyPr wrap="square">
            <a:spAutoFit/>
          </a:bodyPr>
          <a:lstStyle/>
          <a:p>
            <a:pPr algn="ctr">
              <a:spcAft>
                <a:spcPts val="0"/>
              </a:spcAft>
            </a:pPr>
            <a:r>
              <a:rPr sz="1300" b="1">
                <a:solidFill>
                  <a:srgbClr val="FFFFFF"/>
                </a:solidFill>
                <a:latin typeface="Avenir"/>
              </a:rPr>
              <a:t>4</a:t>
            </a:r>
          </a:p>
        </p:txBody>
      </p:sp>
      <p:sp>
        <p:nvSpPr>
          <p:cNvPr id="20" name="Rounded Rectangle 19"/>
          <p:cNvSpPr/>
          <p:nvPr/>
        </p:nvSpPr>
        <p:spPr>
          <a:xfrm>
            <a:off x="1051560" y="3712464"/>
            <a:ext cx="10607040" cy="530352"/>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80160" y="3822192"/>
            <a:ext cx="10149840" cy="347472"/>
          </a:xfrm>
          <a:prstGeom prst="rect">
            <a:avLst/>
          </a:prstGeom>
          <a:noFill/>
        </p:spPr>
        <p:txBody>
          <a:bodyPr wrap="square">
            <a:spAutoFit/>
          </a:bodyPr>
          <a:lstStyle/>
          <a:p>
            <a:pPr algn="l">
              <a:spcAft>
                <a:spcPts val="0"/>
              </a:spcAft>
            </a:pPr>
            <a:r>
              <a:rPr sz="1300" b="0">
                <a:solidFill>
                  <a:srgbClr val="1A2332"/>
                </a:solidFill>
                <a:latin typeface="Avenir"/>
              </a:rPr>
              <a:t>Simulate a patient reply of 3 and review the risk score, barrier, and plateau message.</a:t>
            </a:r>
          </a:p>
        </p:txBody>
      </p:sp>
      <p:sp>
        <p:nvSpPr>
          <p:cNvPr id="22" name="Oval 21"/>
          <p:cNvSpPr/>
          <p:nvPr/>
        </p:nvSpPr>
        <p:spPr>
          <a:xfrm>
            <a:off x="502920" y="4416552"/>
            <a:ext cx="365760" cy="365760"/>
          </a:xfrm>
          <a:prstGeom prst="ellipse">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462272"/>
            <a:ext cx="365760" cy="292608"/>
          </a:xfrm>
          <a:prstGeom prst="rect">
            <a:avLst/>
          </a:prstGeom>
          <a:noFill/>
        </p:spPr>
        <p:txBody>
          <a:bodyPr wrap="square">
            <a:spAutoFit/>
          </a:bodyPr>
          <a:lstStyle/>
          <a:p>
            <a:pPr algn="ctr">
              <a:spcAft>
                <a:spcPts val="0"/>
              </a:spcAft>
            </a:pPr>
            <a:r>
              <a:rPr sz="1300" b="1">
                <a:solidFill>
                  <a:srgbClr val="FFFFFF"/>
                </a:solidFill>
                <a:latin typeface="Avenir"/>
              </a:rPr>
              <a:t>5</a:t>
            </a:r>
          </a:p>
        </p:txBody>
      </p:sp>
      <p:sp>
        <p:nvSpPr>
          <p:cNvPr id="24" name="Rounded Rectangle 23"/>
          <p:cNvSpPr/>
          <p:nvPr/>
        </p:nvSpPr>
        <p:spPr>
          <a:xfrm>
            <a:off x="1051560" y="4370832"/>
            <a:ext cx="10607040" cy="530352"/>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80160" y="4480560"/>
            <a:ext cx="10149840" cy="347472"/>
          </a:xfrm>
          <a:prstGeom prst="rect">
            <a:avLst/>
          </a:prstGeom>
          <a:noFill/>
        </p:spPr>
        <p:txBody>
          <a:bodyPr wrap="square">
            <a:spAutoFit/>
          </a:bodyPr>
          <a:lstStyle/>
          <a:p>
            <a:pPr algn="l">
              <a:spcAft>
                <a:spcPts val="0"/>
              </a:spcAft>
            </a:pPr>
            <a:r>
              <a:rPr sz="1300" b="0">
                <a:solidFill>
                  <a:srgbClr val="1A2332"/>
                </a:solidFill>
                <a:latin typeface="Avenir"/>
              </a:rPr>
              <a:t>Optionally simulate a reply of 2 to show the side-effect path.</a:t>
            </a:r>
          </a:p>
        </p:txBody>
      </p:sp>
      <p:sp>
        <p:nvSpPr>
          <p:cNvPr id="26" name="Oval 25"/>
          <p:cNvSpPr/>
          <p:nvPr/>
        </p:nvSpPr>
        <p:spPr>
          <a:xfrm>
            <a:off x="502920" y="5074919"/>
            <a:ext cx="365760" cy="365760"/>
          </a:xfrm>
          <a:prstGeom prst="ellipse">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5120639"/>
            <a:ext cx="365760" cy="292608"/>
          </a:xfrm>
          <a:prstGeom prst="rect">
            <a:avLst/>
          </a:prstGeom>
          <a:noFill/>
        </p:spPr>
        <p:txBody>
          <a:bodyPr wrap="square">
            <a:spAutoFit/>
          </a:bodyPr>
          <a:lstStyle/>
          <a:p>
            <a:pPr algn="ctr">
              <a:spcAft>
                <a:spcPts val="0"/>
              </a:spcAft>
            </a:pPr>
            <a:r>
              <a:rPr sz="1300" b="1">
                <a:solidFill>
                  <a:srgbClr val="FFFFFF"/>
                </a:solidFill>
                <a:latin typeface="Avenir"/>
              </a:rPr>
              <a:t>6</a:t>
            </a:r>
          </a:p>
        </p:txBody>
      </p:sp>
      <p:sp>
        <p:nvSpPr>
          <p:cNvPr id="28" name="Rounded Rectangle 27"/>
          <p:cNvSpPr/>
          <p:nvPr/>
        </p:nvSpPr>
        <p:spPr>
          <a:xfrm>
            <a:off x="1051560" y="5029199"/>
            <a:ext cx="10607040" cy="530352"/>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280160" y="5138927"/>
            <a:ext cx="10149840" cy="347472"/>
          </a:xfrm>
          <a:prstGeom prst="rect">
            <a:avLst/>
          </a:prstGeom>
          <a:noFill/>
        </p:spPr>
        <p:txBody>
          <a:bodyPr wrap="square">
            <a:spAutoFit/>
          </a:bodyPr>
          <a:lstStyle/>
          <a:p>
            <a:pPr algn="l">
              <a:spcAft>
                <a:spcPts val="0"/>
              </a:spcAft>
            </a:pPr>
            <a:r>
              <a:rPr sz="1300" b="0">
                <a:solidFill>
                  <a:srgbClr val="1A2332"/>
                </a:solidFill>
                <a:latin typeface="Avenir"/>
              </a:rPr>
              <a:t>Show the control versus intervention chart, and state the simulation limitation clearly.</a:t>
            </a:r>
          </a:p>
        </p:txBody>
      </p:sp>
      <p:sp>
        <p:nvSpPr>
          <p:cNvPr id="30" name="TextBox 29"/>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31" name="TextBox 30"/>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14 / 17</a:t>
            </a:r>
          </a:p>
        </p:txBody>
      </p:sp>
      <p:sp>
        <p:nvSpPr>
          <p:cNvPr id="32" name="Rectangle 31"/>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SUMMARY</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a:solidFill>
                  <a:srgbClr val="1A2332"/>
                </a:solidFill>
                <a:latin typeface="Avenir"/>
              </a:rPr>
              <a:t>What this project delivers</a:t>
            </a:r>
          </a:p>
        </p:txBody>
      </p:sp>
      <p:sp>
        <p:nvSpPr>
          <p:cNvPr id="6" name="Oval 5"/>
          <p:cNvSpPr/>
          <p:nvPr/>
        </p:nvSpPr>
        <p:spPr>
          <a:xfrm>
            <a:off x="640080" y="1929384"/>
            <a:ext cx="146304" cy="146304"/>
          </a:xfrm>
          <a:prstGeom prst="ellipse">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1783080"/>
            <a:ext cx="10515600" cy="502920"/>
          </a:xfrm>
          <a:prstGeom prst="rect">
            <a:avLst/>
          </a:prstGeom>
          <a:noFill/>
        </p:spPr>
        <p:txBody>
          <a:bodyPr wrap="square">
            <a:spAutoFit/>
          </a:bodyPr>
          <a:lstStyle/>
          <a:p>
            <a:pPr algn="l">
              <a:spcAft>
                <a:spcPts val="0"/>
              </a:spcAft>
            </a:pPr>
            <a:r>
              <a:rPr sz="1600" b="0">
                <a:solidFill>
                  <a:srgbClr val="1A2332"/>
                </a:solidFill>
                <a:latin typeface="Avenir"/>
              </a:rPr>
              <a:t>An automated check-in schedule that tightens as dropout risk rises</a:t>
            </a:r>
          </a:p>
        </p:txBody>
      </p:sp>
      <p:sp>
        <p:nvSpPr>
          <p:cNvPr id="8" name="Oval 7"/>
          <p:cNvSpPr/>
          <p:nvPr/>
        </p:nvSpPr>
        <p:spPr>
          <a:xfrm>
            <a:off x="640080" y="2569464"/>
            <a:ext cx="146304" cy="146304"/>
          </a:xfrm>
          <a:prstGeom prst="ellipse">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2423160"/>
            <a:ext cx="10515600" cy="502920"/>
          </a:xfrm>
          <a:prstGeom prst="rect">
            <a:avLst/>
          </a:prstGeom>
          <a:noFill/>
        </p:spPr>
        <p:txBody>
          <a:bodyPr wrap="square">
            <a:spAutoFit/>
          </a:bodyPr>
          <a:lstStyle/>
          <a:p>
            <a:pPr algn="l">
              <a:spcAft>
                <a:spcPts val="0"/>
              </a:spcAft>
            </a:pPr>
            <a:r>
              <a:rPr sz="1600" b="0">
                <a:solidFill>
                  <a:srgbClr val="1A2332"/>
                </a:solidFill>
                <a:latin typeface="Avenir"/>
              </a:rPr>
              <a:t>A risk forecast with an attributed reason: plateau, side effects, cost, or silence</a:t>
            </a:r>
          </a:p>
        </p:txBody>
      </p:sp>
      <p:sp>
        <p:nvSpPr>
          <p:cNvPr id="10" name="Oval 9"/>
          <p:cNvSpPr/>
          <p:nvPr/>
        </p:nvSpPr>
        <p:spPr>
          <a:xfrm>
            <a:off x="640080" y="3209544"/>
            <a:ext cx="146304" cy="146304"/>
          </a:xfrm>
          <a:prstGeom prst="ellipse">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3063240"/>
            <a:ext cx="10515600" cy="502920"/>
          </a:xfrm>
          <a:prstGeom prst="rect">
            <a:avLst/>
          </a:prstGeom>
          <a:noFill/>
        </p:spPr>
        <p:txBody>
          <a:bodyPr wrap="square">
            <a:spAutoFit/>
          </a:bodyPr>
          <a:lstStyle/>
          <a:p>
            <a:pPr algn="l">
              <a:spcAft>
                <a:spcPts val="0"/>
              </a:spcAft>
            </a:pPr>
            <a:r>
              <a:rPr sz="1600" b="0">
                <a:solidFill>
                  <a:srgbClr val="1A2332"/>
                </a:solidFill>
                <a:latin typeface="Avenir"/>
              </a:rPr>
              <a:t>An explicit playbook for messages and clinician escalation</a:t>
            </a:r>
          </a:p>
        </p:txBody>
      </p:sp>
      <p:sp>
        <p:nvSpPr>
          <p:cNvPr id="12" name="Oval 11"/>
          <p:cNvSpPr/>
          <p:nvPr/>
        </p:nvSpPr>
        <p:spPr>
          <a:xfrm>
            <a:off x="640080" y="3849623"/>
            <a:ext cx="146304" cy="146304"/>
          </a:xfrm>
          <a:prstGeom prst="ellipse">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3703319"/>
            <a:ext cx="10515600" cy="502920"/>
          </a:xfrm>
          <a:prstGeom prst="rect">
            <a:avLst/>
          </a:prstGeom>
          <a:noFill/>
        </p:spPr>
        <p:txBody>
          <a:bodyPr wrap="square">
            <a:spAutoFit/>
          </a:bodyPr>
          <a:lstStyle/>
          <a:p>
            <a:pPr algn="l">
              <a:spcAft>
                <a:spcPts val="0"/>
              </a:spcAft>
            </a:pPr>
            <a:r>
              <a:rPr sz="1600" b="0">
                <a:solidFill>
                  <a:srgbClr val="1A2332"/>
                </a:solidFill>
                <a:latin typeface="Avenir"/>
              </a:rPr>
              <a:t>Operational limits on message volume and task creation</a:t>
            </a:r>
          </a:p>
        </p:txBody>
      </p:sp>
      <p:sp>
        <p:nvSpPr>
          <p:cNvPr id="14" name="Oval 13"/>
          <p:cNvSpPr/>
          <p:nvPr/>
        </p:nvSpPr>
        <p:spPr>
          <a:xfrm>
            <a:off x="640080" y="4489704"/>
            <a:ext cx="146304" cy="146304"/>
          </a:xfrm>
          <a:prstGeom prst="ellipse">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4343400"/>
            <a:ext cx="10515600" cy="502920"/>
          </a:xfrm>
          <a:prstGeom prst="rect">
            <a:avLst/>
          </a:prstGeom>
          <a:noFill/>
        </p:spPr>
        <p:txBody>
          <a:bodyPr wrap="square">
            <a:spAutoFit/>
          </a:bodyPr>
          <a:lstStyle/>
          <a:p>
            <a:pPr algn="l">
              <a:spcAft>
                <a:spcPts val="0"/>
              </a:spcAft>
            </a:pPr>
            <a:r>
              <a:rPr sz="1600" b="0">
                <a:solidFill>
                  <a:srgbClr val="1A2332"/>
                </a:solidFill>
                <a:latin typeface="Avenir"/>
              </a:rPr>
              <a:t>A care-team work queue as the primary clinical interface</a:t>
            </a:r>
          </a:p>
        </p:txBody>
      </p:sp>
      <p:sp>
        <p:nvSpPr>
          <p:cNvPr id="16" name="Oval 15"/>
          <p:cNvSpPr/>
          <p:nvPr/>
        </p:nvSpPr>
        <p:spPr>
          <a:xfrm>
            <a:off x="640080" y="5129784"/>
            <a:ext cx="146304" cy="146304"/>
          </a:xfrm>
          <a:prstGeom prst="ellipse">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4983480"/>
            <a:ext cx="10515600" cy="502920"/>
          </a:xfrm>
          <a:prstGeom prst="rect">
            <a:avLst/>
          </a:prstGeom>
          <a:noFill/>
        </p:spPr>
        <p:txBody>
          <a:bodyPr wrap="square">
            <a:spAutoFit/>
          </a:bodyPr>
          <a:lstStyle/>
          <a:p>
            <a:pPr algn="l">
              <a:spcAft>
                <a:spcPts val="0"/>
              </a:spcAft>
            </a:pPr>
            <a:r>
              <a:rPr sz="1600" b="0">
                <a:solidFill>
                  <a:srgbClr val="1A2332"/>
                </a:solidFill>
                <a:latin typeface="Avenir"/>
              </a:rPr>
              <a:t>A simulation harness that runs the same decision process over months of virtual time</a:t>
            </a:r>
          </a:p>
        </p:txBody>
      </p:sp>
      <p:sp>
        <p:nvSpPr>
          <p:cNvPr id="18" name="TextBox 17"/>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19" name="TextBox 18"/>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15 / 17</a:t>
            </a:r>
          </a:p>
        </p:txBody>
      </p:sp>
      <p:sp>
        <p:nvSpPr>
          <p:cNvPr id="20" name="Rectangle 19"/>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058400" cy="274320"/>
          </a:xfrm>
          <a:prstGeom prst="rect">
            <a:avLst/>
          </a:prstGeom>
          <a:noFill/>
        </p:spPr>
        <p:txBody>
          <a:bodyPr wrap="square">
            <a:spAutoFit/>
          </a:bodyPr>
          <a:lstStyle/>
          <a:p>
            <a:pPr algn="l">
              <a:spcAft>
                <a:spcPts val="0"/>
              </a:spcAft>
            </a:pPr>
            <a:r>
              <a:rPr sz="1100" b="1">
                <a:solidFill>
                  <a:srgbClr val="0F6B5C"/>
                </a:solidFill>
                <a:latin typeface="Avenir"/>
              </a:rPr>
              <a:t>NEXT PHASE</a:t>
            </a:r>
          </a:p>
        </p:txBody>
      </p:sp>
      <p:sp>
        <p:nvSpPr>
          <p:cNvPr id="5" name="TextBox 4"/>
          <p:cNvSpPr txBox="1"/>
          <p:nvPr/>
        </p:nvSpPr>
        <p:spPr>
          <a:xfrm>
            <a:off x="502920" y="658368"/>
            <a:ext cx="11155680" cy="914400"/>
          </a:xfrm>
          <a:prstGeom prst="rect">
            <a:avLst/>
          </a:prstGeom>
          <a:noFill/>
        </p:spPr>
        <p:txBody>
          <a:bodyPr wrap="square">
            <a:spAutoFit/>
          </a:bodyPr>
          <a:lstStyle/>
          <a:p>
            <a:pPr algn="l">
              <a:spcAft>
                <a:spcPts val="0"/>
              </a:spcAft>
            </a:pPr>
            <a:r>
              <a:rPr sz="2800" b="1">
                <a:solidFill>
                  <a:srgbClr val="1A2332"/>
                </a:solidFill>
                <a:latin typeface="Avenir"/>
              </a:rPr>
              <a:t>Priorities for Round 2</a:t>
            </a:r>
          </a:p>
        </p:txBody>
      </p:sp>
      <p:sp>
        <p:nvSpPr>
          <p:cNvPr id="6" name="Rounded Rectangle 5"/>
          <p:cNvSpPr/>
          <p:nvPr/>
        </p:nvSpPr>
        <p:spPr>
          <a:xfrm>
            <a:off x="502920" y="1828800"/>
            <a:ext cx="5486400" cy="320040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2057400"/>
            <a:ext cx="1280160" cy="274320"/>
          </a:xfrm>
          <a:prstGeom prst="roundRect">
            <a:avLst>
              <a:gd name="adj" fmla="val 50000"/>
            </a:avLst>
          </a:prstGeom>
          <a:solidFill>
            <a:srgbClr val="D8EFE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0F6B5C"/>
                </a:solidFill>
                <a:latin typeface="Avenir"/>
              </a:rPr>
              <a:t>NEAR TERM</a:t>
            </a:r>
          </a:p>
        </p:txBody>
      </p:sp>
      <p:sp>
        <p:nvSpPr>
          <p:cNvPr id="8" name="TextBox 7"/>
          <p:cNvSpPr txBox="1"/>
          <p:nvPr/>
        </p:nvSpPr>
        <p:spPr>
          <a:xfrm>
            <a:off x="731520" y="2560320"/>
            <a:ext cx="4937760" cy="2286000"/>
          </a:xfrm>
          <a:prstGeom prst="rect">
            <a:avLst/>
          </a:prstGeom>
          <a:noFill/>
        </p:spPr>
        <p:txBody>
          <a:bodyPr wrap="square">
            <a:spAutoFit/>
          </a:bodyPr>
          <a:lstStyle/>
          <a:p>
            <a:pPr algn="l">
              <a:spcAft>
                <a:spcPts val="1000"/>
              </a:spcAft>
            </a:pPr>
            <a:r>
              <a:rPr sz="1600" b="1">
                <a:solidFill>
                  <a:srgbClr val="1A2332"/>
                </a:solidFill>
                <a:latin typeface="Avenir"/>
              </a:rPr>
              <a:t>Connect to real messaging and clinical review</a:t>
            </a:r>
          </a:p>
          <a:p>
            <a:pPr algn="l">
              <a:spcAft>
                <a:spcPts val="600"/>
              </a:spcAft>
            </a:pPr>
            <a:r>
              <a:rPr sz="1300" b="0">
                <a:solidFill>
                  <a:srgbClr val="5A6577"/>
                </a:solidFill>
                <a:latin typeface="Avenir"/>
              </a:rPr>
              <a:t>Send and receive live SMS through Twilio on a test number</a:t>
            </a:r>
          </a:p>
          <a:p>
            <a:pPr algn="l">
              <a:spcAft>
                <a:spcPts val="600"/>
              </a:spcAft>
            </a:pPr>
            <a:r>
              <a:rPr sz="1300" b="0">
                <a:solidFill>
                  <a:srgbClr val="5A6577"/>
                </a:solidFill>
                <a:latin typeface="Avenir"/>
              </a:rPr>
              <a:t>Review green, amber, and red thresholds with a clinician</a:t>
            </a:r>
          </a:p>
          <a:p>
            <a:pPr algn="l">
              <a:spcAft>
                <a:spcPts val="600"/>
              </a:spcAft>
            </a:pPr>
            <a:r>
              <a:rPr sz="1300" b="0">
                <a:solidFill>
                  <a:srgbClr val="5A6577"/>
                </a:solidFill>
                <a:latin typeface="Avenir"/>
              </a:rPr>
              <a:t>Replace assumed message effect sizes with literature or advisor estimates</a:t>
            </a:r>
          </a:p>
          <a:p>
            <a:pPr algn="l">
              <a:spcAft>
                <a:spcPts val="600"/>
              </a:spcAft>
            </a:pPr>
            <a:r>
              <a:rPr sz="1300" b="0">
                <a:solidFill>
                  <a:srgbClr val="5A6577"/>
                </a:solidFill>
                <a:latin typeface="Avenir"/>
              </a:rPr>
              <a:t>Use measured weight or lab data when available instead of reply proxies</a:t>
            </a:r>
          </a:p>
        </p:txBody>
      </p:sp>
      <p:sp>
        <p:nvSpPr>
          <p:cNvPr id="9" name="Rounded Rectangle 8"/>
          <p:cNvSpPr/>
          <p:nvPr/>
        </p:nvSpPr>
        <p:spPr>
          <a:xfrm>
            <a:off x="6263640" y="1828800"/>
            <a:ext cx="5394960" cy="320040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537960" y="2057400"/>
            <a:ext cx="822960" cy="274320"/>
          </a:xfrm>
          <a:prstGeom prst="roundRect">
            <a:avLst>
              <a:gd name="adj" fmla="val 50000"/>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200"/>
              </a:spcBef>
            </a:pPr>
            <a:r>
              <a:rPr sz="900" b="1">
                <a:solidFill>
                  <a:srgbClr val="B45309"/>
                </a:solidFill>
                <a:latin typeface="Avenir"/>
              </a:rPr>
              <a:t>THEN</a:t>
            </a:r>
          </a:p>
        </p:txBody>
      </p:sp>
      <p:sp>
        <p:nvSpPr>
          <p:cNvPr id="11" name="TextBox 10"/>
          <p:cNvSpPr txBox="1"/>
          <p:nvPr/>
        </p:nvSpPr>
        <p:spPr>
          <a:xfrm>
            <a:off x="6537960" y="2560320"/>
            <a:ext cx="4846320" cy="1821011"/>
          </a:xfrm>
          <a:prstGeom prst="rect">
            <a:avLst/>
          </a:prstGeom>
          <a:noFill/>
        </p:spPr>
        <p:txBody>
          <a:bodyPr wrap="square">
            <a:spAutoFit/>
          </a:bodyPr>
          <a:lstStyle/>
          <a:p>
            <a:pPr algn="l">
              <a:spcAft>
                <a:spcPts val="1000"/>
              </a:spcAft>
            </a:pPr>
            <a:r>
              <a:rPr sz="1600" b="1" dirty="0">
                <a:solidFill>
                  <a:srgbClr val="1A2332"/>
                </a:solidFill>
                <a:latin typeface="Avenir"/>
              </a:rPr>
              <a:t>Prepare for a small pilot</a:t>
            </a:r>
          </a:p>
          <a:p>
            <a:pPr algn="l">
              <a:spcAft>
                <a:spcPts val="600"/>
              </a:spcAft>
            </a:pPr>
            <a:r>
              <a:rPr sz="1300" b="0" dirty="0">
                <a:solidFill>
                  <a:srgbClr val="5A6577"/>
                </a:solidFill>
                <a:latin typeface="Avenir"/>
              </a:rPr>
              <a:t>Add dashboard authentication and an audit trail for resolved tasks</a:t>
            </a:r>
          </a:p>
          <a:p>
            <a:pPr algn="l">
              <a:spcAft>
                <a:spcPts val="600"/>
              </a:spcAft>
            </a:pPr>
            <a:r>
              <a:rPr sz="1300" b="0" dirty="0">
                <a:solidFill>
                  <a:srgbClr val="5A6577"/>
                </a:solidFill>
                <a:latin typeface="Avenir"/>
              </a:rPr>
              <a:t>Define a clinic endpoint such as 90-day persistence before launch</a:t>
            </a:r>
          </a:p>
          <a:p>
            <a:pPr algn="l">
              <a:spcAft>
                <a:spcPts val="600"/>
              </a:spcAft>
            </a:pPr>
            <a:r>
              <a:rPr sz="1300" b="0" dirty="0">
                <a:solidFill>
                  <a:srgbClr val="5A6577"/>
                </a:solidFill>
                <a:latin typeface="Avenir"/>
              </a:rPr>
              <a:t>Keep improving operations </a:t>
            </a:r>
            <a:r>
              <a:rPr lang="en-US" sz="1300" b="0" dirty="0">
                <a:solidFill>
                  <a:srgbClr val="5A6577"/>
                </a:solidFill>
                <a:latin typeface="Avenir"/>
              </a:rPr>
              <a:t>over</a:t>
            </a:r>
            <a:r>
              <a:rPr sz="1300" b="0" dirty="0">
                <a:solidFill>
                  <a:srgbClr val="5A6577"/>
                </a:solidFill>
                <a:latin typeface="Avenir"/>
              </a:rPr>
              <a:t> chasing model complexity on synthetic labels</a:t>
            </a:r>
          </a:p>
        </p:txBody>
      </p:sp>
      <p:sp>
        <p:nvSpPr>
          <p:cNvPr id="12" name="Rectangle 11"/>
          <p:cNvSpPr/>
          <p:nvPr/>
        </p:nvSpPr>
        <p:spPr>
          <a:xfrm>
            <a:off x="502920" y="5303520"/>
            <a:ext cx="64008" cy="64008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5303520"/>
            <a:ext cx="11091672" cy="640080"/>
          </a:xfrm>
          <a:prstGeom prst="rect">
            <a:avLst/>
          </a:prstGeom>
          <a:solidFill>
            <a:srgbClr val="D8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8952" y="5431536"/>
            <a:ext cx="10744200" cy="457200"/>
          </a:xfrm>
          <a:prstGeom prst="rect">
            <a:avLst/>
          </a:prstGeom>
          <a:noFill/>
        </p:spPr>
        <p:txBody>
          <a:bodyPr wrap="square">
            <a:spAutoFit/>
          </a:bodyPr>
          <a:lstStyle/>
          <a:p>
            <a:pPr algn="l">
              <a:spcAft>
                <a:spcPts val="0"/>
              </a:spcAft>
            </a:pPr>
            <a:r>
              <a:rPr sz="1400" b="0">
                <a:solidFill>
                  <a:srgbClr val="1A2332"/>
                </a:solidFill>
                <a:latin typeface="Avenir"/>
              </a:rPr>
              <a:t>Round 1 established the system design. Round 2 should establish contact with real messaging, clinical cadence, and a pilot plan.</a:t>
            </a:r>
          </a:p>
        </p:txBody>
      </p:sp>
      <p:sp>
        <p:nvSpPr>
          <p:cNvPr id="15" name="TextBox 14"/>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16" name="TextBox 15"/>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16 / 17</a:t>
            </a:r>
          </a:p>
        </p:txBody>
      </p:sp>
      <p:sp>
        <p:nvSpPr>
          <p:cNvPr id="17" name="Rectangle 16"/>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72"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 cy="6858000"/>
          </a:xfrm>
          <a:prstGeom prst="rect">
            <a:avLst/>
          </a:prstGeom>
          <a:solidFill>
            <a:srgbClr val="0F6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502920" y="1866652"/>
            <a:ext cx="1203217" cy="510788"/>
          </a:xfrm>
          <a:prstGeom prst="ellipse">
            <a:avLst/>
          </a:prstGeom>
          <a:solidFill>
            <a:srgbClr val="D8E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3281" y="2011680"/>
            <a:ext cx="10058400" cy="274320"/>
          </a:xfrm>
          <a:prstGeom prst="rect">
            <a:avLst/>
          </a:prstGeom>
          <a:noFill/>
        </p:spPr>
        <p:txBody>
          <a:bodyPr wrap="square">
            <a:spAutoFit/>
          </a:bodyPr>
          <a:lstStyle/>
          <a:p>
            <a:pPr algn="l">
              <a:spcAft>
                <a:spcPts val="0"/>
              </a:spcAft>
            </a:pPr>
            <a:r>
              <a:rPr sz="1100" b="1" dirty="0">
                <a:solidFill>
                  <a:srgbClr val="0F6B5C"/>
                </a:solidFill>
                <a:latin typeface="Avenir"/>
              </a:rPr>
              <a:t>DISCUSSION</a:t>
            </a:r>
          </a:p>
        </p:txBody>
      </p:sp>
      <p:sp>
        <p:nvSpPr>
          <p:cNvPr id="7" name="TextBox 6"/>
          <p:cNvSpPr txBox="1"/>
          <p:nvPr/>
        </p:nvSpPr>
        <p:spPr>
          <a:xfrm>
            <a:off x="502920" y="2377440"/>
            <a:ext cx="11155680" cy="914400"/>
          </a:xfrm>
          <a:prstGeom prst="rect">
            <a:avLst/>
          </a:prstGeom>
          <a:noFill/>
        </p:spPr>
        <p:txBody>
          <a:bodyPr wrap="square">
            <a:spAutoFit/>
          </a:bodyPr>
          <a:lstStyle/>
          <a:p>
            <a:pPr algn="l">
              <a:spcAft>
                <a:spcPts val="0"/>
              </a:spcAft>
            </a:pPr>
            <a:r>
              <a:rPr sz="4200" b="1" dirty="0">
                <a:solidFill>
                  <a:srgbClr val="1A2332"/>
                </a:solidFill>
                <a:latin typeface="Avenir"/>
              </a:rPr>
              <a:t>Questions</a:t>
            </a:r>
          </a:p>
        </p:txBody>
      </p:sp>
      <p:sp>
        <p:nvSpPr>
          <p:cNvPr id="8" name="TextBox 7"/>
          <p:cNvSpPr txBox="1"/>
          <p:nvPr/>
        </p:nvSpPr>
        <p:spPr>
          <a:xfrm>
            <a:off x="502920" y="3429000"/>
            <a:ext cx="10972800" cy="777240"/>
          </a:xfrm>
          <a:prstGeom prst="rect">
            <a:avLst/>
          </a:prstGeom>
          <a:noFill/>
        </p:spPr>
        <p:txBody>
          <a:bodyPr wrap="square">
            <a:spAutoFit/>
          </a:bodyPr>
          <a:lstStyle/>
          <a:p>
            <a:pPr algn="l">
              <a:spcAft>
                <a:spcPts val="0"/>
              </a:spcAft>
            </a:pPr>
            <a:r>
              <a:rPr sz="1700" b="0" dirty="0">
                <a:solidFill>
                  <a:srgbClr val="5A6577"/>
                </a:solidFill>
                <a:latin typeface="Avenir"/>
              </a:rPr>
              <a:t>We can walk through the live dashboard, the simulation results, or the Round 2 plan.</a:t>
            </a:r>
          </a:p>
        </p:txBody>
      </p:sp>
      <p:sp>
        <p:nvSpPr>
          <p:cNvPr id="9" name="Rounded Rectangle 8"/>
          <p:cNvSpPr/>
          <p:nvPr/>
        </p:nvSpPr>
        <p:spPr>
          <a:xfrm>
            <a:off x="502920" y="4343400"/>
            <a:ext cx="3566160" cy="123444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4526280"/>
            <a:ext cx="3108960" cy="868680"/>
          </a:xfrm>
          <a:prstGeom prst="rect">
            <a:avLst/>
          </a:prstGeom>
          <a:noFill/>
        </p:spPr>
        <p:txBody>
          <a:bodyPr wrap="square">
            <a:spAutoFit/>
          </a:bodyPr>
          <a:lstStyle/>
          <a:p>
            <a:pPr algn="l">
              <a:spcAft>
                <a:spcPts val="400"/>
              </a:spcAft>
            </a:pPr>
            <a:r>
              <a:rPr sz="1400" b="1">
                <a:solidFill>
                  <a:srgbClr val="1A2332"/>
                </a:solidFill>
                <a:latin typeface="Avenir"/>
              </a:rPr>
              <a:t>Dashboard</a:t>
            </a:r>
          </a:p>
          <a:p>
            <a:pPr algn="l">
              <a:spcAft>
                <a:spcPts val="600"/>
              </a:spcAft>
            </a:pPr>
            <a:r>
              <a:rPr sz="1200" b="0">
                <a:solidFill>
                  <a:srgbClr val="5A6577"/>
                </a:solidFill>
                <a:latin typeface="Avenir"/>
              </a:rPr>
              <a:t>localhost:8501</a:t>
            </a:r>
          </a:p>
        </p:txBody>
      </p:sp>
      <p:sp>
        <p:nvSpPr>
          <p:cNvPr id="11" name="Rounded Rectangle 10"/>
          <p:cNvSpPr/>
          <p:nvPr/>
        </p:nvSpPr>
        <p:spPr>
          <a:xfrm>
            <a:off x="4297680" y="4343400"/>
            <a:ext cx="3566160" cy="1234440"/>
          </a:xfrm>
          <a:prstGeom prst="roundRect">
            <a:avLst>
              <a:gd name="adj" fmla="val 8000"/>
            </a:avLst>
          </a:prstGeom>
          <a:solidFill>
            <a:srgbClr val="FFFFFF"/>
          </a:solidFill>
          <a:ln w="12700">
            <a:solidFill>
              <a:srgbClr val="D9D2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26280" y="4526280"/>
            <a:ext cx="3108960" cy="868680"/>
          </a:xfrm>
          <a:prstGeom prst="rect">
            <a:avLst/>
          </a:prstGeom>
          <a:noFill/>
        </p:spPr>
        <p:txBody>
          <a:bodyPr wrap="square">
            <a:spAutoFit/>
          </a:bodyPr>
          <a:lstStyle/>
          <a:p>
            <a:pPr algn="l">
              <a:spcAft>
                <a:spcPts val="400"/>
              </a:spcAft>
            </a:pPr>
            <a:r>
              <a:rPr sz="1400" b="1">
                <a:solidFill>
                  <a:srgbClr val="1A2332"/>
                </a:solidFill>
                <a:latin typeface="Avenir"/>
              </a:rPr>
              <a:t>API</a:t>
            </a:r>
          </a:p>
          <a:p>
            <a:pPr algn="l">
              <a:spcAft>
                <a:spcPts val="600"/>
              </a:spcAft>
            </a:pPr>
            <a:r>
              <a:rPr sz="1200" b="0">
                <a:solidFill>
                  <a:srgbClr val="5A6577"/>
                </a:solidFill>
                <a:latin typeface="Avenir"/>
              </a:rPr>
              <a:t>localhost:8000</a:t>
            </a:r>
          </a:p>
        </p:txBody>
      </p:sp>
      <p:sp>
        <p:nvSpPr>
          <p:cNvPr id="15" name="TextBox 14"/>
          <p:cNvSpPr txBox="1"/>
          <p:nvPr/>
        </p:nvSpPr>
        <p:spPr>
          <a:xfrm>
            <a:off x="502920" y="6446520"/>
            <a:ext cx="3657600" cy="274320"/>
          </a:xfrm>
          <a:prstGeom prst="rect">
            <a:avLst/>
          </a:prstGeom>
          <a:noFill/>
        </p:spPr>
        <p:txBody>
          <a:bodyPr wrap="square">
            <a:spAutoFit/>
          </a:bodyPr>
          <a:lstStyle/>
          <a:p>
            <a:pPr algn="l">
              <a:spcAft>
                <a:spcPts val="600"/>
              </a:spcAft>
            </a:pPr>
            <a:r>
              <a:rPr sz="1100" b="1">
                <a:solidFill>
                  <a:srgbClr val="1A2332"/>
                </a:solidFill>
                <a:latin typeface="Avenir"/>
              </a:rPr>
              <a:t>GoaLPost¹</a:t>
            </a:r>
          </a:p>
        </p:txBody>
      </p:sp>
      <p:sp>
        <p:nvSpPr>
          <p:cNvPr id="16" name="TextBox 15"/>
          <p:cNvSpPr txBox="1"/>
          <p:nvPr/>
        </p:nvSpPr>
        <p:spPr>
          <a:xfrm>
            <a:off x="10241280" y="6446520"/>
            <a:ext cx="1463040" cy="274320"/>
          </a:xfrm>
          <a:prstGeom prst="rect">
            <a:avLst/>
          </a:prstGeom>
          <a:noFill/>
        </p:spPr>
        <p:txBody>
          <a:bodyPr wrap="square">
            <a:spAutoFit/>
          </a:bodyPr>
          <a:lstStyle/>
          <a:p>
            <a:pPr algn="r">
              <a:spcAft>
                <a:spcPts val="600"/>
              </a:spcAft>
            </a:pPr>
            <a:r>
              <a:rPr sz="1100" b="0">
                <a:solidFill>
                  <a:srgbClr val="5A6577"/>
                </a:solidFill>
                <a:latin typeface="Avenir"/>
              </a:rPr>
              <a:t>17 / 17</a:t>
            </a:r>
          </a:p>
        </p:txBody>
      </p:sp>
      <p:sp>
        <p:nvSpPr>
          <p:cNvPr id="17" name="Rectangle 16"/>
          <p:cNvSpPr/>
          <p:nvPr/>
        </p:nvSpPr>
        <p:spPr>
          <a:xfrm>
            <a:off x="502920" y="6355080"/>
            <a:ext cx="11201400" cy="12700"/>
          </a:xfrm>
          <a:prstGeom prst="rect">
            <a:avLst/>
          </a:prstGeom>
          <a:solidFill>
            <a:srgbClr val="D9D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1686</Words>
  <Application>Microsoft Macintosh PowerPoint</Application>
  <PresentationFormat>Widescreen</PresentationFormat>
  <Paragraphs>224</Paragraphs>
  <Slides>17</Slides>
  <Notes>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Avenir</vt:lpstr>
      <vt:lpstr>Avenir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Aditi RK</cp:lastModifiedBy>
  <cp:revision>2</cp:revision>
  <dcterms:created xsi:type="dcterms:W3CDTF">2013-01-27T09:14:16Z</dcterms:created>
  <dcterms:modified xsi:type="dcterms:W3CDTF">2026-08-03T14:52:49Z</dcterms:modified>
  <cp:category/>
</cp:coreProperties>
</file>